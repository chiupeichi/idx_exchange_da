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b758613dcb4e72" /><Relationship Type="http://schemas.openxmlformats.org/officeDocument/2006/relationships/extended-properties" Target="/docProps/app.xml" Id="R0f237c2967f0491d" /><Relationship Type="http://schemas.openxmlformats.org/officeDocument/2006/relationships/officeDocument" Target="/ppt/presentation.xml" Id="R4f858f6806ef4377" /></Relationships>
</file>

<file path=ppt/presentation.xml><?xml version="1.0" encoding="utf-8"?>
<p:presentation xmlns:p="http://schemas.openxmlformats.org/presentationml/2006/main">
  <p:sldMasterIdLst>
    <p:sldMasterId xmlns:r="http://schemas.openxmlformats.org/officeDocument/2006/relationships" id="2147483648" r:id="R134d007a8c134643"/>
  </p:sldMasterIdLst>
  <p:notesMasterIdLst>
    <p:notesMasterId xmlns:r="http://schemas.openxmlformats.org/officeDocument/2006/relationships" r:id="R2f145f9480ab4020"/>
  </p:notesMasterIdLst>
  <p:sldIdLst>
    <p:sldId xmlns:r="http://schemas.openxmlformats.org/officeDocument/2006/relationships" id="256" r:id="Rc8c5bb730e6d476b"/>
    <p:sldId xmlns:r="http://schemas.openxmlformats.org/officeDocument/2006/relationships" id="257" r:id="R8b93e56136764b0b"/>
    <p:sldId xmlns:r="http://schemas.openxmlformats.org/officeDocument/2006/relationships" id="258" r:id="Rfbd0a6acc94b4818"/>
    <p:sldId xmlns:r="http://schemas.openxmlformats.org/officeDocument/2006/relationships" id="259" r:id="R1ac1dcc3d1724f17"/>
    <p:sldId xmlns:r="http://schemas.openxmlformats.org/officeDocument/2006/relationships" id="260" r:id="R091d75ad146a45d7"/>
    <p:sldId xmlns:r="http://schemas.openxmlformats.org/officeDocument/2006/relationships" id="261" r:id="Rf06f299c491e4a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74b3258d714cf0" /><Relationship Type="http://schemas.openxmlformats.org/officeDocument/2006/relationships/slideMaster" Target="/ppt/slideMasters/slideMaster1.xml" Id="R134d007a8c134643" /><Relationship Type="http://schemas.openxmlformats.org/officeDocument/2006/relationships/notesMaster" Target="/ppt/notesMasters/notesMaster1.xml" Id="R2f145f9480ab4020" /><Relationship Type="http://schemas.openxmlformats.org/officeDocument/2006/relationships/presProps" Target="/ppt/presProps.xml" Id="R2ddef9945885460b" /><Relationship Type="http://schemas.openxmlformats.org/officeDocument/2006/relationships/tableStyles" Target="/ppt/tableStyles.xml" Id="R35b6ea2d29ac47c6" /><Relationship Type="http://schemas.openxmlformats.org/officeDocument/2006/relationships/slide" Target="/ppt/slides/slide1.xml" Id="Rc8c5bb730e6d476b" /><Relationship Type="http://schemas.openxmlformats.org/officeDocument/2006/relationships/slide" Target="/ppt/slides/slide2.xml" Id="R8b93e56136764b0b" /><Relationship Type="http://schemas.openxmlformats.org/officeDocument/2006/relationships/slide" Target="/ppt/slides/slide3.xml" Id="Rfbd0a6acc94b4818" /><Relationship Type="http://schemas.openxmlformats.org/officeDocument/2006/relationships/slide" Target="/ppt/slides/slide4.xml" Id="R1ac1dcc3d1724f17" /><Relationship Type="http://schemas.openxmlformats.org/officeDocument/2006/relationships/slide" Target="/ppt/slides/slide5.xml" Id="R091d75ad146a45d7" /><Relationship Type="http://schemas.openxmlformats.org/officeDocument/2006/relationships/slide" Target="/ppt/slides/slide6.xml" Id="Rf06f299c491e4a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6eda3f3e1e4d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9d960dd0174f91" /><Relationship Type="http://schemas.openxmlformats.org/officeDocument/2006/relationships/notesMaster" Target="/ppt/notesMasters/notesMaster1.xml" Id="R8ef9f1644c544c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e041441496484c" /><Relationship Type="http://schemas.openxmlformats.org/officeDocument/2006/relationships/notesMaster" Target="/ppt/notesMasters/notesMaster1.xml" Id="Rc16f24f4509b46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20f88f33ea41e1" /><Relationship Type="http://schemas.openxmlformats.org/officeDocument/2006/relationships/notesMaster" Target="/ppt/notesMasters/notesMaster1.xml" Id="R0336239e906f4f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8852cc28254dd3" /><Relationship Type="http://schemas.openxmlformats.org/officeDocument/2006/relationships/notesMaster" Target="/ppt/notesMasters/notesMaster1.xml" Id="Redaa7d40b8194f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85bbbc67884d39" /><Relationship Type="http://schemas.openxmlformats.org/officeDocument/2006/relationships/notesMaster" Target="/ppt/notesMasters/notesMaster1.xml" Id="Rbc38d338078f43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7ef3df6ec2439e" /><Relationship Type="http://schemas.openxmlformats.org/officeDocument/2006/relationships/notesMaster" Target="/ppt/notesMasters/notesMaster1.xml" Id="Rc449317bee2d47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This is my final market intelligence presentation for the Data Analyst internship. I used the cleaned Residential MLS dataset and focused on Irvine in Orange County. I will briefly walk through pricing, market speed, listing and sales activity, and the competitive landscape, then summarize what these results mean for buyers and sellers.</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dashboard-level takeaway is that Irvine became somewhat softer. In April 2026, the median close price was $1.36M, which was 4.2 percent below April 2025. Average days on market increased to 24.8 days, about 4.4 days longer than a year earlier. Homes sold for an average of 98.2 percent of the original list price, showing that buyers had slightly more negotiating room.</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the monthly median close price over the latest complete 12-month activity period. The line is volatile, with several rebounds, but April ended at $1.36M. The median price per square foot was $768, down 5.5 percent year over year. Together, these measures suggest that the softer median was not only caused by a change in home size; unit pricing also weakened.</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activity gives a more balanced picture. April new listings increased by 8.2 percent to 330, and closed sales increased by 11.0 percent to 131. However, over the full trailing 12 months, sales volume was $2.1B, down 5.7 percent from the prior period. So the latest month improved, but the broader market remained cooler.</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competitive dashboard shows a highly fragmented Irvine market. Cesi Pagano was the top listing agent in the latest 12-month period, with $102.5M in sales volume and 72 units. Coldwell Banker Realty led offices with $149.2M and 108 units, but its volume share was only 7.2 percent. This means market leadership is meaningful, but no single brokerage controls the market.</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Irvine is becoming more balanced rather than inactive. Prices and price per square foot softened, homes took longer to sell, and the average sale finished below the original list price. At the same time, April listings and closed sales both increased from the prior year. For sellers, the main action is realistic pricing and patience. For buyers, the market offers more negotiating leverage, although demand is still present. These findings are available in the final Tableau dashboards and the one-page market intelligence report.</a:t>
            </a:r>
          </a:p>
          <a:p xmlns:a="http://schemas.openxmlformats.org/drawingml/2006/main">
            <a:r>
              <a:t/>
            </a:r>
          </a:p>
          <a:p xmlns:a="http://schemas.openxmlformats.org/drawingml/2006/main">
            <a:r>
              <a:t>[Sources]</a:t>
            </a:r>
          </a:p>
          <a:p xmlns:a="http://schemas.openxmlformats.org/drawingml/2006/main">
            <a:r>
              <a:t>- /Users/peggy/Desktop/IDX_DA/week11-12/irvine_market_metrics.json (aggregates calculated from cleaned Residential MLS records)</a:t>
            </a:r>
          </a:p>
          <a:p xmlns:a="http://schemas.openxmlformats.org/drawingml/2006/main">
            <a:r>
              <a:t>- /Users/peggy/Downloads/DA_handbook.pdf (Weeks 11-12 deliverable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3ad705f3bb41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3210d729eb4f74" /><Relationship Type="http://schemas.openxmlformats.org/officeDocument/2006/relationships/slideLayout" Target="/ppt/slideLayouts/slideLayout1.xml" Id="Rec61d963e16440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61d963e16440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b60c96510e42cc" /><Relationship Type="http://schemas.openxmlformats.org/officeDocument/2006/relationships/notesSlide" Target="/ppt/notesSlides/notesSlide1.xml" Id="R9eaa6f10eaa44d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e3cc2f99934a35" /><Relationship Type="http://schemas.openxmlformats.org/officeDocument/2006/relationships/notesSlide" Target="/ppt/notesSlides/notesSlide2.xml" Id="R28e1c3078c634a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593475b4884534" /><Relationship Type="http://schemas.openxmlformats.org/officeDocument/2006/relationships/chart" Target="/ppt/slides/charts/chart1.xml" Id="R51483b0666ac450c" /><Relationship Type="http://schemas.openxmlformats.org/officeDocument/2006/relationships/notesSlide" Target="/ppt/notesSlides/notesSlide3.xml" Id="Rb6fd599ee9964c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22a51d6de34bf9" /><Relationship Type="http://schemas.openxmlformats.org/officeDocument/2006/relationships/chart" Target="/ppt/slides/charts/chart2.xml" Id="Rfd2406d1ca704bd1" /><Relationship Type="http://schemas.openxmlformats.org/officeDocument/2006/relationships/notesSlide" Target="/ppt/notesSlides/notesSlide4.xml" Id="Rcfe6ac8f1afe45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0e3aaa213d40fb" /><Relationship Type="http://schemas.openxmlformats.org/officeDocument/2006/relationships/chart" Target="/ppt/slides/charts/chart3.xml" Id="R2cd52a805dc54d6f" /><Relationship Type="http://schemas.openxmlformats.org/officeDocument/2006/relationships/notesSlide" Target="/ppt/notesSlides/notesSlide5.xml" Id="R1a4cb2d2acce46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3a5f2a58c4452b" /><Relationship Type="http://schemas.openxmlformats.org/officeDocument/2006/relationships/notesSlide" Target="/ppt/notesSlides/notesSlide6.xml" Id="R81a36bb030204c8c" /></Relationships>
</file>

<file path=ppt/slides/charts/chart1.xml><?xml version="1.0" encoding="utf-8"?>
<c:chartSpace xmlns:c="http://schemas.openxmlformats.org/drawingml/2006/chart">
  <c:lang val="en-US"/>
  <c:chart>
    <c:plotArea>
      <c:lineChart>
        <c:grouping val="standard"/>
        <c:varyColors val="0"/>
        <c:ser>
          <c:idx val="0"/>
          <c:order val="0"/>
          <c:tx>
            <c:v>Median close price ($M)</c:v>
          </c:tx>
          <c:spPr>
            <a:ln xmlns:a="http://schemas.openxmlformats.org/drawingml/2006/main" w="28575">
              <a:solidFill>
                <a:srgbClr val="3D8DFF"/>
              </a:solidFill>
              <a:prstDash val="solid"/>
            </a:ln>
          </c:spPr>
          <c:marker>
            <c:symbol val="circle"/>
            <c:size val="6"/>
            <c:spPr>
              <a:solidFill xmlns:a="http://schemas.openxmlformats.org/drawingml/2006/main">
                <a:srgbClr val="3D8DFF"/>
              </a:solidFill>
            </c:spPr>
          </c:marker>
          <c:cat>
            <c:strLit>
              <c:ptCount val="12"/>
              <c:pt idx="0">
                <c:v>2025-05</c:v>
              </c:pt>
              <c:pt idx="1">
                <c:v>2025-06</c:v>
              </c:pt>
              <c:pt idx="2">
                <c:v>2025-07</c:v>
              </c:pt>
              <c:pt idx="3">
                <c:v>2025-08</c:v>
              </c:pt>
              <c:pt idx="4">
                <c:v>2025-09</c:v>
              </c:pt>
              <c:pt idx="5">
                <c:v>2025-10</c:v>
              </c:pt>
              <c:pt idx="6">
                <c:v>2025-11</c:v>
              </c:pt>
              <c:pt idx="7">
                <c:v>2025-12</c:v>
              </c:pt>
              <c:pt idx="8">
                <c:v>2026-01</c:v>
              </c:pt>
              <c:pt idx="9">
                <c:v>2026-02</c:v>
              </c:pt>
              <c:pt idx="10">
                <c:v>2026-03</c:v>
              </c:pt>
              <c:pt idx="11">
                <c:v>2026-04</c:v>
              </c:pt>
            </c:strLit>
          </c:cat>
          <c:val>
            <c:numLit>
              <c:formatCode>$0.00M</c:formatCode>
              <c:ptCount val="12"/>
              <c:pt idx="0">
                <c:v>1.4</c:v>
              </c:pt>
              <c:pt idx="1">
                <c:v>1.417495</c:v>
              </c:pt>
              <c:pt idx="2">
                <c:v>1.345</c:v>
              </c:pt>
              <c:pt idx="3">
                <c:v>1.4</c:v>
              </c:pt>
              <c:pt idx="4">
                <c:v>1.4</c:v>
              </c:pt>
              <c:pt idx="5">
                <c:v>1.3017</c:v>
              </c:pt>
              <c:pt idx="6">
                <c:v>1.395</c:v>
              </c:pt>
              <c:pt idx="7">
                <c:v>1.39</c:v>
              </c:pt>
              <c:pt idx="8">
                <c:v>1.31</c:v>
              </c:pt>
              <c:pt idx="9">
                <c:v>1.4</c:v>
              </c:pt>
              <c:pt idx="10">
                <c:v>1.3815</c:v>
              </c:pt>
              <c:pt idx="11">
                <c:v>1.36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72768"/>
      </c:catAx>
      <c:valAx>
        <c:axId val="48672768"/>
        <c:scaling>
          <c:orientation val="minMax"/>
          <c:max val="1.5"/>
          <c:min val="1.25"/>
        </c:scaling>
        <c:delete val="0"/>
        <c:axPos val="l"/>
        <c:majorGridlines>
          <c:spPr>
            <a:ln xmlns:a="http://schemas.openxmlformats.org/drawingml/2006/main" w="9525">
              <a:solidFill>
                <a:srgbClr val="EDEDED"/>
              </a:solidFill>
              <a:prstDash val="solid"/>
            </a:ln>
          </c:spPr>
        </c:majorGridlines>
        <c:numFmt formatCode="$0.00M"/>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50112"/>
        <c:crossBetween val="between"/>
        <c:majorUnit val="0.05"/>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April 2025</c:v>
          </c:tx>
          <c:spPr>
            <a:solidFill xmlns:a="http://schemas.openxmlformats.org/drawingml/2006/main">
              <a:srgbClr val="D0EDFA"/>
            </a:solidFill>
          </c:spPr>
          <c:cat>
            <c:strLit>
              <c:ptCount val="2"/>
              <c:pt idx="0">
                <c:v>New listings</c:v>
              </c:pt>
              <c:pt idx="1">
                <c:v>Closed sales</c:v>
              </c:pt>
            </c:strLit>
          </c:cat>
          <c:val>
            <c:numLit>
              <c:formatCode>General</c:formatCode>
              <c:ptCount val="2"/>
              <c:pt idx="0">
                <c:v>305</c:v>
              </c:pt>
              <c:pt idx="1">
                <c:v>118</c:v>
              </c:pt>
            </c:numLit>
          </c:val>
        </c:ser>
        <c:ser>
          <c:idx val="1"/>
          <c:order val="1"/>
          <c:tx>
            <c:v>April 2026</c:v>
          </c:tx>
          <c:spPr>
            <a:solidFill xmlns:a="http://schemas.openxmlformats.org/drawingml/2006/main">
              <a:srgbClr val="3D8DFF"/>
            </a:solidFill>
          </c:spPr>
          <c:cat>
            <c:strLit>
              <c:ptCount val="2"/>
              <c:pt idx="0">
                <c:v>New listings</c:v>
              </c:pt>
              <c:pt idx="1">
                <c:v>Closed sales</c:v>
              </c:pt>
            </c:strLit>
          </c:cat>
          <c:val>
            <c:numLit>
              <c:formatCode>General</c:formatCode>
              <c:ptCount val="2"/>
              <c:pt idx="0">
                <c:v>330</c:v>
              </c:pt>
              <c:pt idx="1">
                <c:v>131</c:v>
              </c:pt>
            </c:numLit>
          </c:val>
        </c:ser>
        <c:dLbls>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latin typeface="Helvetica Neue"/>
                <a:ea typeface="Helvetica Neue"/>
                <a:cs typeface="Helvetica Neue"/>
              </a:defRPr>
            </a:pPr>
          </a:p>
        </c:txPr>
        <c:crossAx val="48672768"/>
      </c:catAx>
      <c:valAx>
        <c:axId val="48672768"/>
        <c:scaling>
          <c:orientation val="minMax"/>
          <c:max val="36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50112"/>
        <c:crossBetween val="between"/>
        <c:majorUnit val="60"/>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Sales volume ($M)</c:v>
          </c:tx>
          <c:spPr>
            <a:solidFill xmlns:a="http://schemas.openxmlformats.org/drawingml/2006/main">
              <a:srgbClr val="3D8DFF"/>
            </a:solidFill>
          </c:spPr>
          <c:cat>
            <c:strLit>
              <c:ptCount val="5"/>
              <c:pt idx="0">
                <c:v>Coldwell Banker</c:v>
              </c:pt>
              <c:pt idx="1">
                <c:v>Real Broker</c:v>
              </c:pt>
              <c:pt idx="2">
                <c:v>KW Irvine</c:v>
              </c:pt>
              <c:pt idx="3">
                <c:v>KW Realty</c:v>
              </c:pt>
              <c:pt idx="4">
                <c:v>Pinnacle</c:v>
              </c:pt>
            </c:strLit>
          </c:cat>
          <c:val>
            <c:numLit>
              <c:formatCode>$0M</c:formatCode>
              <c:ptCount val="5"/>
              <c:pt idx="0">
                <c:v>149.186954</c:v>
              </c:pt>
              <c:pt idx="1">
                <c:v>147.74182</c:v>
              </c:pt>
              <c:pt idx="2">
                <c:v>138.3815</c:v>
              </c:pt>
              <c:pt idx="3">
                <c:v>120.885376</c:v>
              </c:pt>
              <c:pt idx="4">
                <c:v>82.051088</c:v>
              </c:pt>
            </c:numLit>
          </c:val>
        </c:ser>
        <c:dLbls>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72768"/>
      </c:catAx>
      <c:valAx>
        <c:axId val="48672768"/>
        <c:scaling>
          <c:orientation val="minMax"/>
          <c:max val="160"/>
        </c:scaling>
        <c:delete val="0"/>
        <c:axPos val="l"/>
        <c:majorGridlines>
          <c:spPr>
            <a:ln xmlns:a="http://schemas.openxmlformats.org/drawingml/2006/main" w="9525">
              <a:solidFill>
                <a:srgbClr val="EDEDED"/>
              </a:solidFill>
              <a:prstDash val="solid"/>
            </a:ln>
          </c:spPr>
        </c:majorGridlines>
        <c:numFmt formatCode="$0M"/>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50112"/>
        <c:crossBetween val="between"/>
        <c:majorUnit val="4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ver-eyebrow">
            <a:extLst xmlns:a="http://schemas.openxmlformats.org/drawingml/2006/main">
              <a:ext uri="{FF2B5EF4-FFF2-40B4-BE49-F238E27FC236}">
                <a16:creationId xmlns:a16="http://schemas.microsoft.com/office/drawing/2014/main" id="{20782621-E7B0-43BB-8315-752A1AD71449}"/>
              </a:ext>
            </a:extLst>
          </p:cNvPr>
          <p:cNvSpPr>
            <a:spLocks xmlns:a="http://schemas.openxmlformats.org/drawingml/2006/main" noGrp="1"/>
          </p:cNvSpPr>
          <p:nvPr/>
        </p:nvSpPr>
        <p:spPr>
          <a:xfrm xmlns:a="http://schemas.openxmlformats.org/drawingml/2006/main">
            <a:off x="390525" y="390525"/>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IDX EXCHANGE | DATA ANALYST INTERNSHIP</a:t>
            </a:r>
          </a:p>
        </p:txBody>
      </p:sp>
      <p:sp>
        <p:nvSpPr>
          <p:cNvPr id="2" name="cover-title">
            <a:extLst xmlns:a="http://schemas.openxmlformats.org/drawingml/2006/main">
              <a:ext uri="{FF2B5EF4-FFF2-40B4-BE49-F238E27FC236}">
                <a16:creationId xmlns:a16="http://schemas.microsoft.com/office/drawing/2014/main" id="{A3F84EC0-B03E-4A57-8067-FDC661E41B1D}"/>
              </a:ext>
            </a:extLst>
          </p:cNvPr>
          <p:cNvSpPr>
            <a:spLocks xmlns:a="http://schemas.openxmlformats.org/drawingml/2006/main" noGrp="1"/>
          </p:cNvSpPr>
          <p:nvPr/>
        </p:nvSpPr>
        <p:spPr>
          <a:xfrm xmlns:a="http://schemas.openxmlformats.org/drawingml/2006/main">
            <a:off x="390525" y="1676400"/>
            <a:ext cx="9429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defRPr sz="6000" b="1">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Irvine market</a:t>
            </a:r>
          </a:p>
          <a:p xmlns:a="http://schemas.openxmlformats.org/drawingml/2006/main">
            <a:pPr algn="l">
              <a:defRPr sz="6000" b="1">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intelligence</a:t>
            </a:r>
          </a:p>
        </p:txBody>
      </p:sp>
      <p:sp>
        <p:nvSpPr>
          <p:cNvPr id="3" name="cover-subtitle">
            <a:extLst xmlns:a="http://schemas.openxmlformats.org/drawingml/2006/main">
              <a:ext uri="{FF2B5EF4-FFF2-40B4-BE49-F238E27FC236}">
                <a16:creationId xmlns:a16="http://schemas.microsoft.com/office/drawing/2014/main" id="{574B9663-15F9-4955-9B31-FB4F40131DFE}"/>
              </a:ext>
            </a:extLst>
          </p:cNvPr>
          <p:cNvSpPr>
            <a:spLocks xmlns:a="http://schemas.openxmlformats.org/drawingml/2006/main" noGrp="1"/>
          </p:cNvSpPr>
          <p:nvPr/>
        </p:nvSpPr>
        <p:spPr>
          <a:xfrm xmlns:a="http://schemas.openxmlformats.org/drawingml/2006/main">
            <a:off x="390525" y="4762500"/>
            <a:ext cx="5905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75">
                <a:solidFill>
                  <a:srgbClr val="5D6875"/>
                </a:solidFill>
                <a:latin typeface="Helvetica Neue"/>
                <a:ea typeface="Helvetica Neue"/>
                <a:cs typeface="Helvetica Neue"/>
              </a:defRPr>
            </a:pPr>
            <a:r>
              <a:rPr sz="2175">
                <a:solidFill>
                  <a:srgbClr val="5D6875"/>
                </a:solidFill>
                <a:latin typeface="Helvetica Neue"/>
                <a:ea typeface="Helvetica Neue"/>
                <a:cs typeface="Helvetica Neue"/>
              </a:rPr>
              <a:t>Final Tableau findings | April 2026</a:t>
            </a:r>
          </a:p>
          <a:p xmlns:a="http://schemas.openxmlformats.org/drawingml/2006/main">
            <a:pPr algn="l">
              <a:defRPr sz="2175">
                <a:solidFill>
                  <a:srgbClr val="5D6875"/>
                </a:solidFill>
                <a:latin typeface="Helvetica Neue"/>
                <a:ea typeface="Helvetica Neue"/>
                <a:cs typeface="Helvetica Neue"/>
              </a:defRPr>
            </a:pPr>
            <a:r>
              <a:rPr sz="2175">
                <a:solidFill>
                  <a:srgbClr val="5D6875"/>
                </a:solidFill>
                <a:latin typeface="Helvetica Neue"/>
                <a:ea typeface="Helvetica Neue"/>
                <a:cs typeface="Helvetica Neue"/>
              </a:rPr>
              <a:t>Peggy Chiu</a:t>
            </a:r>
          </a:p>
        </p:txBody>
      </p:sp>
    </p:spTree>
    <p:extLst>
      <p:ext uri="{BB962C8B-B14F-4D97-AF65-F5344CB8AC3E}">
        <p14:creationId xmlns:p14="http://schemas.microsoft.com/office/powerpoint/2010/main" val="1356211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2-title">
            <a:extLst xmlns:a="http://schemas.openxmlformats.org/drawingml/2006/main">
              <a:ext uri="{FF2B5EF4-FFF2-40B4-BE49-F238E27FC236}">
                <a16:creationId xmlns:a16="http://schemas.microsoft.com/office/drawing/2014/main" id="{7FB5AD87-A718-4B5B-A9A7-5AFDB3E14804}"/>
              </a:ext>
            </a:extLst>
          </p:cNvPr>
          <p:cNvSpPr>
            <a:spLocks xmlns:a="http://schemas.openxmlformats.org/drawingml/2006/main" noGrp="1"/>
          </p:cNvSpPr>
          <p:nvPr/>
        </p:nvSpPr>
        <p:spPr>
          <a:xfrm xmlns:a="http://schemas.openxmlformats.org/drawingml/2006/main">
            <a:off x="390525" y="333375"/>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Irvine shows softer pricing and a slower sale cycle</a:t>
            </a:r>
          </a:p>
        </p:txBody>
      </p:sp>
      <p:sp>
        <p:nvSpPr>
          <p:cNvPr id="2" name="slide-2-number">
            <a:extLst xmlns:a="http://schemas.openxmlformats.org/drawingml/2006/main">
              <a:ext uri="{FF2B5EF4-FFF2-40B4-BE49-F238E27FC236}">
                <a16:creationId xmlns:a16="http://schemas.microsoft.com/office/drawing/2014/main" id="{524723DF-581B-4D36-B305-66203D96CBDB}"/>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a:solidFill>
                  <a:srgbClr val="5D6875"/>
                </a:solidFill>
                <a:latin typeface="Helvetica Neue"/>
                <a:ea typeface="Helvetica Neue"/>
                <a:cs typeface="Helvetica Neue"/>
              </a:defRPr>
            </a:pPr>
            <a:r>
              <a:rPr sz="1050">
                <a:solidFill>
                  <a:srgbClr val="5D6875"/>
                </a:solidFill>
                <a:latin typeface="Helvetica Neue"/>
                <a:ea typeface="Helvetica Neue"/>
                <a:cs typeface="Helvetica Neue"/>
              </a:rPr>
              <a:t>2</a:t>
            </a:r>
          </a:p>
        </p:txBody>
      </p:sp>
      <p:sp>
        <p:nvSpPr>
          <p:cNvPr id="3" name="pulse-intro">
            <a:extLst xmlns:a="http://schemas.openxmlformats.org/drawingml/2006/main">
              <a:ext uri="{FF2B5EF4-FFF2-40B4-BE49-F238E27FC236}">
                <a16:creationId xmlns:a16="http://schemas.microsoft.com/office/drawing/2014/main" id="{7D86FF38-797E-4E6F-870E-C2B8A14A488C}"/>
              </a:ext>
            </a:extLst>
          </p:cNvPr>
          <p:cNvSpPr>
            <a:spLocks xmlns:a="http://schemas.openxmlformats.org/drawingml/2006/main" noGrp="1"/>
          </p:cNvSpPr>
          <p:nvPr/>
        </p:nvSpPr>
        <p:spPr>
          <a:xfrm xmlns:a="http://schemas.openxmlformats.org/drawingml/2006/main">
            <a:off x="390525" y="1152525"/>
            <a:ext cx="114014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a:solidFill>
                  <a:srgbClr val="5D6875"/>
                </a:solidFill>
                <a:latin typeface="Helvetica Neue"/>
                <a:ea typeface="Helvetica Neue"/>
                <a:cs typeface="Helvetica Neue"/>
              </a:defRPr>
            </a:pPr>
            <a:r>
              <a:rPr sz="1800">
                <a:solidFill>
                  <a:srgbClr val="5D6875"/>
                </a:solidFill>
                <a:latin typeface="Helvetica Neue"/>
                <a:ea typeface="Helvetica Neue"/>
                <a:cs typeface="Helvetica Neue"/>
              </a:rPr>
              <a:t>April 2026 is the latest month with complete listing and closed-sale activity. The market remained active, but pricing and speed moved in buyers' favor.</a:t>
            </a:r>
          </a:p>
        </p:txBody>
      </p:sp>
      <p:sp>
        <p:nvSpPr>
          <p:cNvPr id="4" name="pulse-panel-1">
            <a:extLst xmlns:a="http://schemas.openxmlformats.org/drawingml/2006/main">
              <a:ext uri="{FF2B5EF4-FFF2-40B4-BE49-F238E27FC236}">
                <a16:creationId xmlns:a16="http://schemas.microsoft.com/office/drawing/2014/main" id="{EB78A26F-E0B5-4393-BB77-C1A823927DC9}"/>
              </a:ext>
            </a:extLst>
          </p:cNvPr>
          <p:cNvSpPr>
            <a:spLocks xmlns:a="http://schemas.openxmlformats.org/drawingml/2006/main" noGrp="1"/>
          </p:cNvSpPr>
          <p:nvPr/>
        </p:nvSpPr>
        <p:spPr>
          <a:xfrm xmlns:a="http://schemas.openxmlformats.org/drawingml/2006/main">
            <a:off x="390525" y="3019425"/>
            <a:ext cx="3571875" cy="2971800"/>
          </a:xfrm>
          <a:prstGeom xmlns:a="http://schemas.openxmlformats.org/drawingml/2006/main" prst="roundRect">
            <a:avLst>
              <a:gd name="adj" fmla="val 2564"/>
            </a:avLst>
          </a:prstGeom>
          <a:solidFill xmlns:a="http://schemas.openxmlformats.org/drawingml/2006/main">
            <a:srgbClr val="EDEDED"/>
          </a:solidFill>
          <a:ln xmlns:a="http://schemas.openxmlformats.org/drawingml/2006/main" w="0">
            <a:noFill/>
            <a:prstDash val="solid"/>
          </a:ln>
        </p:spPr>
      </p:sp>
      <p:sp>
        <p:nvSpPr>
          <p:cNvPr id="5" name="pulse-value-1">
            <a:extLst xmlns:a="http://schemas.openxmlformats.org/drawingml/2006/main">
              <a:ext uri="{FF2B5EF4-FFF2-40B4-BE49-F238E27FC236}">
                <a16:creationId xmlns:a16="http://schemas.microsoft.com/office/drawing/2014/main" id="{B8B8FEF4-4154-43C9-988D-07FAFCA3388A}"/>
              </a:ext>
            </a:extLst>
          </p:cNvPr>
          <p:cNvSpPr>
            <a:spLocks xmlns:a="http://schemas.openxmlformats.org/drawingml/2006/main" noGrp="1"/>
          </p:cNvSpPr>
          <p:nvPr/>
        </p:nvSpPr>
        <p:spPr>
          <a:xfrm xmlns:a="http://schemas.openxmlformats.org/drawingml/2006/main">
            <a:off x="695325" y="34290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300" b="1">
                <a:solidFill>
                  <a:srgbClr val="17365D"/>
                </a:solidFill>
                <a:latin typeface="Helvetica Neue"/>
                <a:ea typeface="Helvetica Neue"/>
                <a:cs typeface="Helvetica Neue"/>
              </a:defRPr>
            </a:pPr>
            <a:r>
              <a:rPr sz="3300" b="1">
                <a:solidFill>
                  <a:srgbClr val="17365D"/>
                </a:solidFill>
                <a:latin typeface="Helvetica Neue"/>
                <a:ea typeface="Helvetica Neue"/>
                <a:cs typeface="Helvetica Neue"/>
              </a:rPr>
              <a:t>$1.36M</a:t>
            </a:r>
          </a:p>
        </p:txBody>
      </p:sp>
      <p:sp>
        <p:nvSpPr>
          <p:cNvPr id="6" name="pulse-label-1">
            <a:extLst xmlns:a="http://schemas.openxmlformats.org/drawingml/2006/main">
              <a:ext uri="{FF2B5EF4-FFF2-40B4-BE49-F238E27FC236}">
                <a16:creationId xmlns:a16="http://schemas.microsoft.com/office/drawing/2014/main" id="{87097F9E-BF0D-4D1B-85ED-C7D28207EB55}"/>
              </a:ext>
            </a:extLst>
          </p:cNvPr>
          <p:cNvSpPr>
            <a:spLocks xmlns:a="http://schemas.openxmlformats.org/drawingml/2006/main" noGrp="1"/>
          </p:cNvSpPr>
          <p:nvPr/>
        </p:nvSpPr>
        <p:spPr>
          <a:xfrm xmlns:a="http://schemas.openxmlformats.org/drawingml/2006/main">
            <a:off x="695325" y="4857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Median close price</a:t>
            </a:r>
          </a:p>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-4.2% year over year</a:t>
            </a:r>
          </a:p>
        </p:txBody>
      </p:sp>
      <p:sp>
        <p:nvSpPr>
          <p:cNvPr id="7" name="pulse-panel-2">
            <a:extLst xmlns:a="http://schemas.openxmlformats.org/drawingml/2006/main">
              <a:ext uri="{FF2B5EF4-FFF2-40B4-BE49-F238E27FC236}">
                <a16:creationId xmlns:a16="http://schemas.microsoft.com/office/drawing/2014/main" id="{7A34CDF4-6052-4D9F-98A6-D9E089DF59F3}"/>
              </a:ext>
            </a:extLst>
          </p:cNvPr>
          <p:cNvSpPr>
            <a:spLocks xmlns:a="http://schemas.openxmlformats.org/drawingml/2006/main" noGrp="1"/>
          </p:cNvSpPr>
          <p:nvPr/>
        </p:nvSpPr>
        <p:spPr>
          <a:xfrm xmlns:a="http://schemas.openxmlformats.org/drawingml/2006/main">
            <a:off x="4314825" y="3019425"/>
            <a:ext cx="3571875" cy="2971800"/>
          </a:xfrm>
          <a:prstGeom xmlns:a="http://schemas.openxmlformats.org/drawingml/2006/main" prst="roundRect">
            <a:avLst>
              <a:gd name="adj" fmla="val 2564"/>
            </a:avLst>
          </a:prstGeom>
          <a:solidFill xmlns:a="http://schemas.openxmlformats.org/drawingml/2006/main">
            <a:srgbClr val="EDEDED"/>
          </a:solidFill>
          <a:ln xmlns:a="http://schemas.openxmlformats.org/drawingml/2006/main" w="0">
            <a:noFill/>
            <a:prstDash val="solid"/>
          </a:ln>
        </p:spPr>
      </p:sp>
      <p:sp>
        <p:nvSpPr>
          <p:cNvPr id="8" name="pulse-value-2">
            <a:extLst xmlns:a="http://schemas.openxmlformats.org/drawingml/2006/main">
              <a:ext uri="{FF2B5EF4-FFF2-40B4-BE49-F238E27FC236}">
                <a16:creationId xmlns:a16="http://schemas.microsoft.com/office/drawing/2014/main" id="{2125CC05-7C7B-4FB3-A2AF-B1C7ACB5A6E0}"/>
              </a:ext>
            </a:extLst>
          </p:cNvPr>
          <p:cNvSpPr>
            <a:spLocks xmlns:a="http://schemas.openxmlformats.org/drawingml/2006/main" noGrp="1"/>
          </p:cNvSpPr>
          <p:nvPr/>
        </p:nvSpPr>
        <p:spPr>
          <a:xfrm xmlns:a="http://schemas.openxmlformats.org/drawingml/2006/main">
            <a:off x="4619625" y="34290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300" b="1">
                <a:solidFill>
                  <a:srgbClr val="17365D"/>
                </a:solidFill>
                <a:latin typeface="Helvetica Neue"/>
                <a:ea typeface="Helvetica Neue"/>
                <a:cs typeface="Helvetica Neue"/>
              </a:defRPr>
            </a:pPr>
            <a:r>
              <a:rPr sz="3300" b="1">
                <a:solidFill>
                  <a:srgbClr val="17365D"/>
                </a:solidFill>
                <a:latin typeface="Helvetica Neue"/>
                <a:ea typeface="Helvetica Neue"/>
                <a:cs typeface="Helvetica Neue"/>
              </a:rPr>
              <a:t>24.8 days</a:t>
            </a:r>
          </a:p>
        </p:txBody>
      </p:sp>
      <p:sp>
        <p:nvSpPr>
          <p:cNvPr id="9" name="pulse-label-2">
            <a:extLst xmlns:a="http://schemas.openxmlformats.org/drawingml/2006/main">
              <a:ext uri="{FF2B5EF4-FFF2-40B4-BE49-F238E27FC236}">
                <a16:creationId xmlns:a16="http://schemas.microsoft.com/office/drawing/2014/main" id="{03B5E94F-5104-4035-9397-6BC128E2B26E}"/>
              </a:ext>
            </a:extLst>
          </p:cNvPr>
          <p:cNvSpPr>
            <a:spLocks xmlns:a="http://schemas.openxmlformats.org/drawingml/2006/main" noGrp="1"/>
          </p:cNvSpPr>
          <p:nvPr/>
        </p:nvSpPr>
        <p:spPr>
          <a:xfrm xmlns:a="http://schemas.openxmlformats.org/drawingml/2006/main">
            <a:off x="4619625" y="4857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Average days on market</a:t>
            </a:r>
          </a:p>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+4.4 days year over year</a:t>
            </a:r>
          </a:p>
        </p:txBody>
      </p:sp>
      <p:sp>
        <p:nvSpPr>
          <p:cNvPr id="10" name="pulse-panel-3">
            <a:extLst xmlns:a="http://schemas.openxmlformats.org/drawingml/2006/main">
              <a:ext uri="{FF2B5EF4-FFF2-40B4-BE49-F238E27FC236}">
                <a16:creationId xmlns:a16="http://schemas.microsoft.com/office/drawing/2014/main" id="{870E0125-65DC-4E2F-977F-14588D0B6A22}"/>
              </a:ext>
            </a:extLst>
          </p:cNvPr>
          <p:cNvSpPr>
            <a:spLocks xmlns:a="http://schemas.openxmlformats.org/drawingml/2006/main" noGrp="1"/>
          </p:cNvSpPr>
          <p:nvPr/>
        </p:nvSpPr>
        <p:spPr>
          <a:xfrm xmlns:a="http://schemas.openxmlformats.org/drawingml/2006/main">
            <a:off x="8229600" y="3019425"/>
            <a:ext cx="3571875" cy="2971800"/>
          </a:xfrm>
          <a:prstGeom xmlns:a="http://schemas.openxmlformats.org/drawingml/2006/main" prst="roundRect">
            <a:avLst>
              <a:gd name="adj" fmla="val 2564"/>
            </a:avLst>
          </a:prstGeom>
          <a:solidFill xmlns:a="http://schemas.openxmlformats.org/drawingml/2006/main">
            <a:srgbClr val="EDEDED"/>
          </a:solidFill>
          <a:ln xmlns:a="http://schemas.openxmlformats.org/drawingml/2006/main" w="0">
            <a:noFill/>
            <a:prstDash val="solid"/>
          </a:ln>
        </p:spPr>
      </p:sp>
      <p:sp>
        <p:nvSpPr>
          <p:cNvPr id="11" name="pulse-value-3">
            <a:extLst xmlns:a="http://schemas.openxmlformats.org/drawingml/2006/main">
              <a:ext uri="{FF2B5EF4-FFF2-40B4-BE49-F238E27FC236}">
                <a16:creationId xmlns:a16="http://schemas.microsoft.com/office/drawing/2014/main" id="{B6F1F1CB-44E0-4B92-A514-1AC8D070D7C1}"/>
              </a:ext>
            </a:extLst>
          </p:cNvPr>
          <p:cNvSpPr>
            <a:spLocks xmlns:a="http://schemas.openxmlformats.org/drawingml/2006/main" noGrp="1"/>
          </p:cNvSpPr>
          <p:nvPr/>
        </p:nvSpPr>
        <p:spPr>
          <a:xfrm xmlns:a="http://schemas.openxmlformats.org/drawingml/2006/main">
            <a:off x="8534400" y="3429000"/>
            <a:ext cx="295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300" b="1">
                <a:solidFill>
                  <a:srgbClr val="17365D"/>
                </a:solidFill>
                <a:latin typeface="Helvetica Neue"/>
                <a:ea typeface="Helvetica Neue"/>
                <a:cs typeface="Helvetica Neue"/>
              </a:defRPr>
            </a:pPr>
            <a:r>
              <a:rPr sz="3300" b="1">
                <a:solidFill>
                  <a:srgbClr val="17365D"/>
                </a:solidFill>
                <a:latin typeface="Helvetica Neue"/>
                <a:ea typeface="Helvetica Neue"/>
                <a:cs typeface="Helvetica Neue"/>
              </a:rPr>
              <a:t>98.2%</a:t>
            </a:r>
          </a:p>
        </p:txBody>
      </p:sp>
      <p:sp>
        <p:nvSpPr>
          <p:cNvPr id="12" name="pulse-label-3">
            <a:extLst xmlns:a="http://schemas.openxmlformats.org/drawingml/2006/main">
              <a:ext uri="{FF2B5EF4-FFF2-40B4-BE49-F238E27FC236}">
                <a16:creationId xmlns:a16="http://schemas.microsoft.com/office/drawing/2014/main" id="{7AF8C29D-697F-469F-9AF9-0A948A8E0A0D}"/>
              </a:ext>
            </a:extLst>
          </p:cNvPr>
          <p:cNvSpPr>
            <a:spLocks xmlns:a="http://schemas.openxmlformats.org/drawingml/2006/main" noGrp="1"/>
          </p:cNvSpPr>
          <p:nvPr/>
        </p:nvSpPr>
        <p:spPr>
          <a:xfrm xmlns:a="http://schemas.openxmlformats.org/drawingml/2006/main">
            <a:off x="8534400" y="48577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46"/>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Close-to-original-list ratio</a:t>
            </a:r>
          </a:p>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$768 median price per sq. ft.</a:t>
            </a:r>
          </a:p>
        </p:txBody>
      </p:sp>
    </p:spTree>
    <p:extLst>
      <p:ext uri="{BB962C8B-B14F-4D97-AF65-F5344CB8AC3E}">
        <p14:creationId xmlns:p14="http://schemas.microsoft.com/office/powerpoint/2010/main" val="14336517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title">
            <a:extLst xmlns:a="http://schemas.openxmlformats.org/drawingml/2006/main">
              <a:ext uri="{FF2B5EF4-FFF2-40B4-BE49-F238E27FC236}">
                <a16:creationId xmlns:a16="http://schemas.microsoft.com/office/drawing/2014/main" id="{007E8439-35DD-48FE-8847-6F7072B117C0}"/>
              </a:ext>
            </a:extLst>
          </p:cNvPr>
          <p:cNvSpPr>
            <a:spLocks xmlns:a="http://schemas.openxmlformats.org/drawingml/2006/main" noGrp="1"/>
          </p:cNvSpPr>
          <p:nvPr/>
        </p:nvSpPr>
        <p:spPr>
          <a:xfrm xmlns:a="http://schemas.openxmlformats.org/drawingml/2006/main">
            <a:off x="390525" y="333375"/>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Price volatility ended with a lower April median</a:t>
            </a:r>
          </a:p>
        </p:txBody>
      </p:sp>
      <p:sp>
        <p:nvSpPr>
          <p:cNvPr id="2" name="slide-3-number">
            <a:extLst xmlns:a="http://schemas.openxmlformats.org/drawingml/2006/main">
              <a:ext uri="{FF2B5EF4-FFF2-40B4-BE49-F238E27FC236}">
                <a16:creationId xmlns:a16="http://schemas.microsoft.com/office/drawing/2014/main" id="{6B343133-AF1B-4088-8869-5E3BA7D3D2DD}"/>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a:solidFill>
                  <a:srgbClr val="5D6875"/>
                </a:solidFill>
                <a:latin typeface="Helvetica Neue"/>
                <a:ea typeface="Helvetica Neue"/>
                <a:cs typeface="Helvetica Neue"/>
              </a:defRPr>
            </a:pPr>
            <a:r>
              <a:rPr sz="1050">
                <a:solidFill>
                  <a:srgbClr val="5D6875"/>
                </a:solidFill>
                <a:latin typeface="Helvetica Neue"/>
                <a:ea typeface="Helvetica Neue"/>
                <a:cs typeface="Helvetica Neue"/>
              </a:rPr>
              <a:t>3</a:t>
            </a:r>
          </a:p>
        </p:txBody>
      </p:sp>
      <p:sp>
        <p:nvSpPr>
          <p:cNvPr id="3" name="price-chart-frame">
            <a:extLst xmlns:a="http://schemas.openxmlformats.org/drawingml/2006/main">
              <a:ext uri="{FF2B5EF4-FFF2-40B4-BE49-F238E27FC236}">
                <a16:creationId xmlns:a16="http://schemas.microsoft.com/office/drawing/2014/main" id="{BBA2B8D5-65B2-456F-BD0B-4E76F4661676}"/>
              </a:ext>
            </a:extLst>
          </p:cNvPr>
          <p:cNvSpPr>
            <a:spLocks xmlns:a="http://schemas.openxmlformats.org/drawingml/2006/main" noGrp="1"/>
          </p:cNvSpPr>
          <p:nvPr/>
        </p:nvSpPr>
        <p:spPr>
          <a:xfrm xmlns:a="http://schemas.openxmlformats.org/drawingml/2006/main">
            <a:off x="381000" y="1257300"/>
            <a:ext cx="5543550" cy="50101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graphicFrame>
        <p:nvGraphicFramePr>
          <p:cNvPr id="15" name="Chart"/>
          <p:cNvGraphicFramePr/>
          <p:nvPr/>
        </p:nvGraphicFramePr>
        <p:xfrm>
          <a:off xmlns:a="http://schemas.openxmlformats.org/drawingml/2006/main" x="495300" y="1409700"/>
          <a:ext xmlns:a="http://schemas.openxmlformats.org/drawingml/2006/main" cx="5314950" cy="4686300"/>
        </p:xfrm>
        <a:graphic xmlns:a="http://schemas.openxmlformats.org/drawingml/2006/main">
          <a:graphicData uri="http://schemas.openxmlformats.org/drawingml/2006/chart">
            <c:chart xmlns:r="http://schemas.openxmlformats.org/officeDocument/2006/relationships" xmlns:c="http://schemas.openxmlformats.org/drawingml/2006/chart" r:id="R51483b0666ac450c"/>
          </a:graphicData>
        </a:graphic>
      </p:graphicFrame>
      <p:sp>
        <p:nvSpPr>
          <p:cNvPr id="5" name="price-interpretation">
            <a:extLst xmlns:a="http://schemas.openxmlformats.org/drawingml/2006/main">
              <a:ext uri="{FF2B5EF4-FFF2-40B4-BE49-F238E27FC236}">
                <a16:creationId xmlns:a16="http://schemas.microsoft.com/office/drawing/2014/main" id="{9B4BE0CC-4A99-4679-A966-67B29B3F71B6}"/>
              </a:ext>
            </a:extLst>
          </p:cNvPr>
          <p:cNvSpPr>
            <a:spLocks xmlns:a="http://schemas.openxmlformats.org/drawingml/2006/main" noGrp="1"/>
          </p:cNvSpPr>
          <p:nvPr/>
        </p:nvSpPr>
        <p:spPr>
          <a:xfrm xmlns:a="http://schemas.openxmlformats.org/drawingml/2006/main">
            <a:off x="6257925" y="1733550"/>
            <a:ext cx="55340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a:solidFill>
                  <a:srgbClr val="5D6875"/>
                </a:solidFill>
                <a:latin typeface="Helvetica Neue"/>
                <a:ea typeface="Helvetica Neue"/>
                <a:cs typeface="Helvetica Neue"/>
              </a:defRPr>
            </a:pPr>
            <a:r>
              <a:rPr sz="1875">
                <a:solidFill>
                  <a:srgbClr val="5D6875"/>
                </a:solidFill>
                <a:latin typeface="Helvetica Neue"/>
                <a:ea typeface="Helvetica Neue"/>
                <a:cs typeface="Helvetica Neue"/>
              </a:rPr>
              <a:t>The last 12 months were uneven rather than steadily declining. April finished below the year-ago benchmark, while price per square foot also moved lower.</a:t>
            </a:r>
          </a:p>
        </p:txBody>
      </p:sp>
      <p:sp>
        <p:nvSpPr>
          <p:cNvPr id="6" name="price-stat-1">
            <a:extLst xmlns:a="http://schemas.openxmlformats.org/drawingml/2006/main">
              <a:ext uri="{FF2B5EF4-FFF2-40B4-BE49-F238E27FC236}">
                <a16:creationId xmlns:a16="http://schemas.microsoft.com/office/drawing/2014/main" id="{9A8797FD-60CE-41F4-A52F-B1C461EAA5AD}"/>
              </a:ext>
            </a:extLst>
          </p:cNvPr>
          <p:cNvSpPr>
            <a:spLocks xmlns:a="http://schemas.openxmlformats.org/drawingml/2006/main" noGrp="1"/>
          </p:cNvSpPr>
          <p:nvPr/>
        </p:nvSpPr>
        <p:spPr>
          <a:xfrm xmlns:a="http://schemas.openxmlformats.org/drawingml/2006/main">
            <a:off x="6267450" y="3352800"/>
            <a:ext cx="2581275" cy="2657475"/>
          </a:xfrm>
          <a:prstGeom xmlns:a="http://schemas.openxmlformats.org/drawingml/2006/main" prst="roundRect">
            <a:avLst>
              <a:gd name="adj" fmla="val 2952"/>
            </a:avLst>
          </a:prstGeom>
          <a:solidFill xmlns:a="http://schemas.openxmlformats.org/drawingml/2006/main">
            <a:srgbClr val="EDEDED"/>
          </a:solidFill>
          <a:ln xmlns:a="http://schemas.openxmlformats.org/drawingml/2006/main" w="0">
            <a:noFill/>
            <a:prstDash val="solid"/>
          </a:ln>
        </p:spPr>
      </p:sp>
      <p:sp>
        <p:nvSpPr>
          <p:cNvPr id="7" name="price-stat-2">
            <a:extLst xmlns:a="http://schemas.openxmlformats.org/drawingml/2006/main">
              <a:ext uri="{FF2B5EF4-FFF2-40B4-BE49-F238E27FC236}">
                <a16:creationId xmlns:a16="http://schemas.microsoft.com/office/drawing/2014/main" id="{91CEE1C3-ADE4-47EC-A335-367ACBCBFD4A}"/>
              </a:ext>
            </a:extLst>
          </p:cNvPr>
          <p:cNvSpPr>
            <a:spLocks xmlns:a="http://schemas.openxmlformats.org/drawingml/2006/main" noGrp="1"/>
          </p:cNvSpPr>
          <p:nvPr/>
        </p:nvSpPr>
        <p:spPr>
          <a:xfrm xmlns:a="http://schemas.openxmlformats.org/drawingml/2006/main">
            <a:off x="9220200" y="3352800"/>
            <a:ext cx="2581275" cy="2657475"/>
          </a:xfrm>
          <a:prstGeom xmlns:a="http://schemas.openxmlformats.org/drawingml/2006/main" prst="roundRect">
            <a:avLst>
              <a:gd name="adj" fmla="val 2952"/>
            </a:avLst>
          </a:prstGeom>
          <a:solidFill xmlns:a="http://schemas.openxmlformats.org/drawingml/2006/main">
            <a:srgbClr val="EDEDED"/>
          </a:solidFill>
          <a:ln xmlns:a="http://schemas.openxmlformats.org/drawingml/2006/main" w="0">
            <a:noFill/>
            <a:prstDash val="solid"/>
          </a:ln>
        </p:spPr>
      </p:sp>
      <p:sp>
        <p:nvSpPr>
          <p:cNvPr id="8" name="price-stat-value-1">
            <a:extLst xmlns:a="http://schemas.openxmlformats.org/drawingml/2006/main">
              <a:ext uri="{FF2B5EF4-FFF2-40B4-BE49-F238E27FC236}">
                <a16:creationId xmlns:a16="http://schemas.microsoft.com/office/drawing/2014/main" id="{FE85A5B0-CD92-448F-8E65-7A0D52C996D8}"/>
              </a:ext>
            </a:extLst>
          </p:cNvPr>
          <p:cNvSpPr>
            <a:spLocks xmlns:a="http://schemas.openxmlformats.org/drawingml/2006/main" noGrp="1"/>
          </p:cNvSpPr>
          <p:nvPr/>
        </p:nvSpPr>
        <p:spPr>
          <a:xfrm xmlns:a="http://schemas.openxmlformats.org/drawingml/2006/main">
            <a:off x="6505575" y="3590925"/>
            <a:ext cx="2133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300" b="1">
                <a:solidFill>
                  <a:srgbClr val="17365D"/>
                </a:solidFill>
                <a:latin typeface="Helvetica Neue"/>
                <a:ea typeface="Helvetica Neue"/>
                <a:cs typeface="Helvetica Neue"/>
              </a:defRPr>
            </a:pPr>
            <a:r>
              <a:rPr sz="3300" b="1">
                <a:solidFill>
                  <a:srgbClr val="17365D"/>
                </a:solidFill>
                <a:latin typeface="Helvetica Neue"/>
                <a:ea typeface="Helvetica Neue"/>
                <a:cs typeface="Helvetica Neue"/>
              </a:rPr>
              <a:t>$1.36M</a:t>
            </a:r>
          </a:p>
        </p:txBody>
      </p:sp>
      <p:sp>
        <p:nvSpPr>
          <p:cNvPr id="9" name="price-stat-label-1">
            <a:extLst xmlns:a="http://schemas.openxmlformats.org/drawingml/2006/main">
              <a:ext uri="{FF2B5EF4-FFF2-40B4-BE49-F238E27FC236}">
                <a16:creationId xmlns:a16="http://schemas.microsoft.com/office/drawing/2014/main" id="{1A92E0D8-F9FC-4BEE-A4DA-9A561EDED4B7}"/>
              </a:ext>
            </a:extLst>
          </p:cNvPr>
          <p:cNvSpPr>
            <a:spLocks xmlns:a="http://schemas.openxmlformats.org/drawingml/2006/main" noGrp="1"/>
          </p:cNvSpPr>
          <p:nvPr/>
        </p:nvSpPr>
        <p:spPr>
          <a:xfrm xmlns:a="http://schemas.openxmlformats.org/drawingml/2006/main">
            <a:off x="6572250" y="5000625"/>
            <a:ext cx="2066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April median</a:t>
            </a:r>
          </a:p>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-4.2% YoY</a:t>
            </a:r>
          </a:p>
        </p:txBody>
      </p:sp>
      <p:sp>
        <p:nvSpPr>
          <p:cNvPr id="10" name="price-stat-value-2">
            <a:extLst xmlns:a="http://schemas.openxmlformats.org/drawingml/2006/main">
              <a:ext uri="{FF2B5EF4-FFF2-40B4-BE49-F238E27FC236}">
                <a16:creationId xmlns:a16="http://schemas.microsoft.com/office/drawing/2014/main" id="{897F16DB-6943-480F-AA63-D4D58967F4FA}"/>
              </a:ext>
            </a:extLst>
          </p:cNvPr>
          <p:cNvSpPr>
            <a:spLocks xmlns:a="http://schemas.openxmlformats.org/drawingml/2006/main" noGrp="1"/>
          </p:cNvSpPr>
          <p:nvPr/>
        </p:nvSpPr>
        <p:spPr>
          <a:xfrm xmlns:a="http://schemas.openxmlformats.org/drawingml/2006/main">
            <a:off x="9458325" y="3590925"/>
            <a:ext cx="2133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3300" b="1">
                <a:solidFill>
                  <a:srgbClr val="17365D"/>
                </a:solidFill>
                <a:latin typeface="Helvetica Neue"/>
                <a:ea typeface="Helvetica Neue"/>
                <a:cs typeface="Helvetica Neue"/>
              </a:defRPr>
            </a:pPr>
            <a:r>
              <a:rPr sz="3300" b="1">
                <a:solidFill>
                  <a:srgbClr val="17365D"/>
                </a:solidFill>
                <a:latin typeface="Helvetica Neue"/>
                <a:ea typeface="Helvetica Neue"/>
                <a:cs typeface="Helvetica Neue"/>
              </a:rPr>
              <a:t>$768</a:t>
            </a:r>
          </a:p>
        </p:txBody>
      </p:sp>
      <p:sp>
        <p:nvSpPr>
          <p:cNvPr id="11" name="price-stat-label-2">
            <a:extLst xmlns:a="http://schemas.openxmlformats.org/drawingml/2006/main">
              <a:ext uri="{FF2B5EF4-FFF2-40B4-BE49-F238E27FC236}">
                <a16:creationId xmlns:a16="http://schemas.microsoft.com/office/drawing/2014/main" id="{2BFD3B63-2D74-40EF-AB9D-C08608BE222D}"/>
              </a:ext>
            </a:extLst>
          </p:cNvPr>
          <p:cNvSpPr>
            <a:spLocks xmlns:a="http://schemas.openxmlformats.org/drawingml/2006/main" noGrp="1"/>
          </p:cNvSpPr>
          <p:nvPr/>
        </p:nvSpPr>
        <p:spPr>
          <a:xfrm xmlns:a="http://schemas.openxmlformats.org/drawingml/2006/main">
            <a:off x="9525000" y="5000625"/>
            <a:ext cx="2066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Median per sq. ft.</a:t>
            </a:r>
          </a:p>
          <a:p xmlns:a="http://schemas.openxmlformats.org/drawingml/2006/main">
            <a:pPr algn="l">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-5.5% YoY</a:t>
            </a:r>
          </a:p>
        </p:txBody>
      </p:sp>
    </p:spTree>
    <p:extLst>
      <p:ext uri="{BB962C8B-B14F-4D97-AF65-F5344CB8AC3E}">
        <p14:creationId xmlns:p14="http://schemas.microsoft.com/office/powerpoint/2010/main" val="15160644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4-title">
            <a:extLst xmlns:a="http://schemas.openxmlformats.org/drawingml/2006/main">
              <a:ext uri="{FF2B5EF4-FFF2-40B4-BE49-F238E27FC236}">
                <a16:creationId xmlns:a16="http://schemas.microsoft.com/office/drawing/2014/main" id="{01F42C4D-B4D4-407B-859B-CA2E67D9C42E}"/>
              </a:ext>
            </a:extLst>
          </p:cNvPr>
          <p:cNvSpPr>
            <a:spLocks xmlns:a="http://schemas.openxmlformats.org/drawingml/2006/main" noGrp="1"/>
          </p:cNvSpPr>
          <p:nvPr/>
        </p:nvSpPr>
        <p:spPr>
          <a:xfrm xmlns:a="http://schemas.openxmlformats.org/drawingml/2006/main">
            <a:off x="390525" y="333375"/>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April activity improved even as the 12-month market cooled</a:t>
            </a:r>
          </a:p>
        </p:txBody>
      </p:sp>
      <p:sp>
        <p:nvSpPr>
          <p:cNvPr id="2" name="slide-4-number">
            <a:extLst xmlns:a="http://schemas.openxmlformats.org/drawingml/2006/main">
              <a:ext uri="{FF2B5EF4-FFF2-40B4-BE49-F238E27FC236}">
                <a16:creationId xmlns:a16="http://schemas.microsoft.com/office/drawing/2014/main" id="{2FB5A88A-258B-45E8-8C1C-0A2E333517AD}"/>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a:solidFill>
                  <a:srgbClr val="5D6875"/>
                </a:solidFill>
                <a:latin typeface="Helvetica Neue"/>
                <a:ea typeface="Helvetica Neue"/>
                <a:cs typeface="Helvetica Neue"/>
              </a:defRPr>
            </a:pPr>
            <a:r>
              <a:rPr sz="1050">
                <a:solidFill>
                  <a:srgbClr val="5D6875"/>
                </a:solidFill>
                <a:latin typeface="Helvetica Neue"/>
                <a:ea typeface="Helvetica Neue"/>
                <a:cs typeface="Helvetica Neue"/>
              </a:rPr>
              <a:t>4</a:t>
            </a:r>
          </a:p>
        </p:txBody>
      </p:sp>
      <p:sp>
        <p:nvSpPr>
          <p:cNvPr id="3" name="activity-chart-frame">
            <a:extLst xmlns:a="http://schemas.openxmlformats.org/drawingml/2006/main">
              <a:ext uri="{FF2B5EF4-FFF2-40B4-BE49-F238E27FC236}">
                <a16:creationId xmlns:a16="http://schemas.microsoft.com/office/drawing/2014/main" id="{14E0B4EA-8498-4A8D-934E-848ACA012D48}"/>
              </a:ext>
            </a:extLst>
          </p:cNvPr>
          <p:cNvSpPr>
            <a:spLocks xmlns:a="http://schemas.openxmlformats.org/drawingml/2006/main" noGrp="1"/>
          </p:cNvSpPr>
          <p:nvPr/>
        </p:nvSpPr>
        <p:spPr>
          <a:xfrm xmlns:a="http://schemas.openxmlformats.org/drawingml/2006/main">
            <a:off x="400050" y="1057275"/>
            <a:ext cx="5124450" cy="5448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graphicFrame>
        <p:nvGraphicFramePr>
          <p:cNvPr id="17" name="Chart"/>
          <p:cNvGraphicFramePr/>
          <p:nvPr/>
        </p:nvGraphicFramePr>
        <p:xfrm>
          <a:off xmlns:a="http://schemas.openxmlformats.org/drawingml/2006/main" x="552450" y="1285875"/>
          <a:ext xmlns:a="http://schemas.openxmlformats.org/drawingml/2006/main" cx="4838700" cy="4953000"/>
        </p:xfrm>
        <a:graphic xmlns:a="http://schemas.openxmlformats.org/drawingml/2006/main">
          <a:graphicData uri="http://schemas.openxmlformats.org/drawingml/2006/chart">
            <c:chart xmlns:r="http://schemas.openxmlformats.org/officeDocument/2006/relationships" xmlns:c="http://schemas.openxmlformats.org/drawingml/2006/chart" r:id="Rfd2406d1ca704bd1"/>
          </a:graphicData>
        </a:graphic>
      </p:graphicFrame>
      <p:sp>
        <p:nvSpPr>
          <p:cNvPr id="5" name="activity-card-1">
            <a:extLst xmlns:a="http://schemas.openxmlformats.org/drawingml/2006/main">
              <a:ext uri="{FF2B5EF4-FFF2-40B4-BE49-F238E27FC236}">
                <a16:creationId xmlns:a16="http://schemas.microsoft.com/office/drawing/2014/main" id="{B5B735B9-D557-4BB2-92EE-E61EF581D4CD}"/>
              </a:ext>
            </a:extLst>
          </p:cNvPr>
          <p:cNvSpPr>
            <a:spLocks xmlns:a="http://schemas.openxmlformats.org/drawingml/2006/main" noGrp="1"/>
          </p:cNvSpPr>
          <p:nvPr/>
        </p:nvSpPr>
        <p:spPr>
          <a:xfrm xmlns:a="http://schemas.openxmlformats.org/drawingml/2006/main">
            <a:off x="6267450" y="1057275"/>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6" name="activity-title-1">
            <a:extLst xmlns:a="http://schemas.openxmlformats.org/drawingml/2006/main">
              <a:ext uri="{FF2B5EF4-FFF2-40B4-BE49-F238E27FC236}">
                <a16:creationId xmlns:a16="http://schemas.microsoft.com/office/drawing/2014/main" id="{D3922059-3BFF-488C-A37F-C9DEF5AC1175}"/>
              </a:ext>
            </a:extLst>
          </p:cNvPr>
          <p:cNvSpPr>
            <a:spLocks xmlns:a="http://schemas.openxmlformats.org/drawingml/2006/main" noGrp="1"/>
          </p:cNvSpPr>
          <p:nvPr/>
        </p:nvSpPr>
        <p:spPr>
          <a:xfrm xmlns:a="http://schemas.openxmlformats.org/drawingml/2006/main">
            <a:off x="6562725" y="1314450"/>
            <a:ext cx="4981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7365D"/>
                </a:solidFill>
                <a:latin typeface="Helvetica Neue"/>
                <a:ea typeface="Helvetica Neue"/>
                <a:cs typeface="Helvetica Neue"/>
              </a:defRPr>
            </a:pPr>
            <a:r>
              <a:rPr sz="2100" b="1">
                <a:solidFill>
                  <a:srgbClr val="17365D"/>
                </a:solidFill>
                <a:latin typeface="Helvetica Neue"/>
                <a:ea typeface="Helvetica Neue"/>
                <a:cs typeface="Helvetica Neue"/>
              </a:rPr>
              <a:t>+8.2% new listings</a:t>
            </a:r>
          </a:p>
        </p:txBody>
      </p:sp>
      <p:sp>
        <p:nvSpPr>
          <p:cNvPr id="7" name="activity-body-1">
            <a:extLst xmlns:a="http://schemas.openxmlformats.org/drawingml/2006/main">
              <a:ext uri="{FF2B5EF4-FFF2-40B4-BE49-F238E27FC236}">
                <a16:creationId xmlns:a16="http://schemas.microsoft.com/office/drawing/2014/main" id="{303AF816-31AE-4D1B-808B-A3472BB8997B}"/>
              </a:ext>
            </a:extLst>
          </p:cNvPr>
          <p:cNvSpPr>
            <a:spLocks xmlns:a="http://schemas.openxmlformats.org/drawingml/2006/main" noGrp="1"/>
          </p:cNvSpPr>
          <p:nvPr/>
        </p:nvSpPr>
        <p:spPr>
          <a:xfrm xmlns:a="http://schemas.openxmlformats.org/drawingml/2006/main">
            <a:off x="6562725" y="1800225"/>
            <a:ext cx="4981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a:solidFill>
                  <a:srgbClr val="5D6875"/>
                </a:solidFill>
                <a:latin typeface="Helvetica Neue"/>
                <a:ea typeface="Helvetica Neue"/>
                <a:cs typeface="Helvetica Neue"/>
              </a:defRPr>
            </a:pPr>
            <a:r>
              <a:rPr sz="1500">
                <a:solidFill>
                  <a:srgbClr val="5D6875"/>
                </a:solidFill>
                <a:latin typeface="Helvetica Neue"/>
                <a:ea typeface="Helvetica Neue"/>
                <a:cs typeface="Helvetica Neue"/>
              </a:rPr>
              <a:t>330 homes entered the market in April, up from 305 a year earlier.</a:t>
            </a:r>
          </a:p>
        </p:txBody>
      </p:sp>
      <p:sp>
        <p:nvSpPr>
          <p:cNvPr id="8" name="activity-card-2">
            <a:extLst xmlns:a="http://schemas.openxmlformats.org/drawingml/2006/main">
              <a:ext uri="{FF2B5EF4-FFF2-40B4-BE49-F238E27FC236}">
                <a16:creationId xmlns:a16="http://schemas.microsoft.com/office/drawing/2014/main" id="{B0624CF0-2998-4D44-A016-9F7C57D2D38F}"/>
              </a:ext>
            </a:extLst>
          </p:cNvPr>
          <p:cNvSpPr>
            <a:spLocks xmlns:a="http://schemas.openxmlformats.org/drawingml/2006/main" noGrp="1"/>
          </p:cNvSpPr>
          <p:nvPr/>
        </p:nvSpPr>
        <p:spPr>
          <a:xfrm xmlns:a="http://schemas.openxmlformats.org/drawingml/2006/main">
            <a:off x="6267450" y="2876550"/>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9" name="activity-title-2">
            <a:extLst xmlns:a="http://schemas.openxmlformats.org/drawingml/2006/main">
              <a:ext uri="{FF2B5EF4-FFF2-40B4-BE49-F238E27FC236}">
                <a16:creationId xmlns:a16="http://schemas.microsoft.com/office/drawing/2014/main" id="{488F3A4B-5849-41A0-9AD5-E3902FB175F9}"/>
              </a:ext>
            </a:extLst>
          </p:cNvPr>
          <p:cNvSpPr>
            <a:spLocks xmlns:a="http://schemas.openxmlformats.org/drawingml/2006/main" noGrp="1"/>
          </p:cNvSpPr>
          <p:nvPr/>
        </p:nvSpPr>
        <p:spPr>
          <a:xfrm xmlns:a="http://schemas.openxmlformats.org/drawingml/2006/main">
            <a:off x="6562725" y="3133725"/>
            <a:ext cx="4981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7365D"/>
                </a:solidFill>
                <a:latin typeface="Helvetica Neue"/>
                <a:ea typeface="Helvetica Neue"/>
                <a:cs typeface="Helvetica Neue"/>
              </a:defRPr>
            </a:pPr>
            <a:r>
              <a:rPr sz="2100" b="1">
                <a:solidFill>
                  <a:srgbClr val="17365D"/>
                </a:solidFill>
                <a:latin typeface="Helvetica Neue"/>
                <a:ea typeface="Helvetica Neue"/>
                <a:cs typeface="Helvetica Neue"/>
              </a:rPr>
              <a:t>+11.0% closed sales</a:t>
            </a:r>
          </a:p>
        </p:txBody>
      </p:sp>
      <p:sp>
        <p:nvSpPr>
          <p:cNvPr id="10" name="activity-body-2">
            <a:extLst xmlns:a="http://schemas.openxmlformats.org/drawingml/2006/main">
              <a:ext uri="{FF2B5EF4-FFF2-40B4-BE49-F238E27FC236}">
                <a16:creationId xmlns:a16="http://schemas.microsoft.com/office/drawing/2014/main" id="{B8BA3260-4BB7-4A2F-8525-B1F90814B87E}"/>
              </a:ext>
            </a:extLst>
          </p:cNvPr>
          <p:cNvSpPr>
            <a:spLocks xmlns:a="http://schemas.openxmlformats.org/drawingml/2006/main" noGrp="1"/>
          </p:cNvSpPr>
          <p:nvPr/>
        </p:nvSpPr>
        <p:spPr>
          <a:xfrm xmlns:a="http://schemas.openxmlformats.org/drawingml/2006/main">
            <a:off x="6562725" y="3619500"/>
            <a:ext cx="4981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a:solidFill>
                  <a:srgbClr val="5D6875"/>
                </a:solidFill>
                <a:latin typeface="Helvetica Neue"/>
                <a:ea typeface="Helvetica Neue"/>
                <a:cs typeface="Helvetica Neue"/>
              </a:defRPr>
            </a:pPr>
            <a:r>
              <a:rPr sz="1500">
                <a:solidFill>
                  <a:srgbClr val="5D6875"/>
                </a:solidFill>
                <a:latin typeface="Helvetica Neue"/>
                <a:ea typeface="Helvetica Neue"/>
                <a:cs typeface="Helvetica Neue"/>
              </a:rPr>
              <a:t>131 homes sold in April, compared with 118 in April 2025.</a:t>
            </a:r>
          </a:p>
        </p:txBody>
      </p:sp>
      <p:sp>
        <p:nvSpPr>
          <p:cNvPr id="11" name="activity-card-3">
            <a:extLst xmlns:a="http://schemas.openxmlformats.org/drawingml/2006/main">
              <a:ext uri="{FF2B5EF4-FFF2-40B4-BE49-F238E27FC236}">
                <a16:creationId xmlns:a16="http://schemas.microsoft.com/office/drawing/2014/main" id="{7794FC3C-3424-4083-8E14-3A6BA9FB2254}"/>
              </a:ext>
            </a:extLst>
          </p:cNvPr>
          <p:cNvSpPr>
            <a:spLocks xmlns:a="http://schemas.openxmlformats.org/drawingml/2006/main" noGrp="1"/>
          </p:cNvSpPr>
          <p:nvPr/>
        </p:nvSpPr>
        <p:spPr>
          <a:xfrm xmlns:a="http://schemas.openxmlformats.org/drawingml/2006/main">
            <a:off x="6267450" y="4695825"/>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12" name="activity-title-3">
            <a:extLst xmlns:a="http://schemas.openxmlformats.org/drawingml/2006/main">
              <a:ext uri="{FF2B5EF4-FFF2-40B4-BE49-F238E27FC236}">
                <a16:creationId xmlns:a16="http://schemas.microsoft.com/office/drawing/2014/main" id="{C778A65C-25D1-4390-96AE-8EDAD7BB0DE9}"/>
              </a:ext>
            </a:extLst>
          </p:cNvPr>
          <p:cNvSpPr>
            <a:spLocks xmlns:a="http://schemas.openxmlformats.org/drawingml/2006/main" noGrp="1"/>
          </p:cNvSpPr>
          <p:nvPr/>
        </p:nvSpPr>
        <p:spPr>
          <a:xfrm xmlns:a="http://schemas.openxmlformats.org/drawingml/2006/main">
            <a:off x="6562725" y="4953000"/>
            <a:ext cx="4981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7365D"/>
                </a:solidFill>
                <a:latin typeface="Helvetica Neue"/>
                <a:ea typeface="Helvetica Neue"/>
                <a:cs typeface="Helvetica Neue"/>
              </a:defRPr>
            </a:pPr>
            <a:r>
              <a:rPr sz="2100" b="1">
                <a:solidFill>
                  <a:srgbClr val="17365D"/>
                </a:solidFill>
                <a:latin typeface="Helvetica Neue"/>
                <a:ea typeface="Helvetica Neue"/>
                <a:cs typeface="Helvetica Neue"/>
              </a:rPr>
              <a:t>-5.7% 12-month volume</a:t>
            </a:r>
          </a:p>
        </p:txBody>
      </p:sp>
      <p:sp>
        <p:nvSpPr>
          <p:cNvPr id="13" name="activity-body-3">
            <a:extLst xmlns:a="http://schemas.openxmlformats.org/drawingml/2006/main">
              <a:ext uri="{FF2B5EF4-FFF2-40B4-BE49-F238E27FC236}">
                <a16:creationId xmlns:a16="http://schemas.microsoft.com/office/drawing/2014/main" id="{E9BC1B01-8D3A-40A9-A5CD-DA70D6C09942}"/>
              </a:ext>
            </a:extLst>
          </p:cNvPr>
          <p:cNvSpPr>
            <a:spLocks xmlns:a="http://schemas.openxmlformats.org/drawingml/2006/main" noGrp="1"/>
          </p:cNvSpPr>
          <p:nvPr/>
        </p:nvSpPr>
        <p:spPr>
          <a:xfrm xmlns:a="http://schemas.openxmlformats.org/drawingml/2006/main">
            <a:off x="6562725" y="5438775"/>
            <a:ext cx="4981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a:solidFill>
                  <a:srgbClr val="5D6875"/>
                </a:solidFill>
                <a:latin typeface="Helvetica Neue"/>
                <a:ea typeface="Helvetica Neue"/>
                <a:cs typeface="Helvetica Neue"/>
              </a:defRPr>
            </a:pPr>
            <a:r>
              <a:rPr sz="1500">
                <a:solidFill>
                  <a:srgbClr val="5D6875"/>
                </a:solidFill>
                <a:latin typeface="Helvetica Neue"/>
                <a:ea typeface="Helvetica Neue"/>
                <a:cs typeface="Helvetica Neue"/>
              </a:rPr>
              <a:t>Trailing sales volume was $2.1B, below the prior 12 months.</a:t>
            </a:r>
          </a:p>
        </p:txBody>
      </p:sp>
    </p:spTree>
    <p:extLst>
      <p:ext uri="{BB962C8B-B14F-4D97-AF65-F5344CB8AC3E}">
        <p14:creationId xmlns:p14="http://schemas.microsoft.com/office/powerpoint/2010/main" val="14273724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5-title">
            <a:extLst xmlns:a="http://schemas.openxmlformats.org/drawingml/2006/main">
              <a:ext uri="{FF2B5EF4-FFF2-40B4-BE49-F238E27FC236}">
                <a16:creationId xmlns:a16="http://schemas.microsoft.com/office/drawing/2014/main" id="{AAA87B95-C077-4D15-BBEE-A052279A12A0}"/>
              </a:ext>
            </a:extLst>
          </p:cNvPr>
          <p:cNvSpPr>
            <a:spLocks xmlns:a="http://schemas.openxmlformats.org/drawingml/2006/main" noGrp="1"/>
          </p:cNvSpPr>
          <p:nvPr/>
        </p:nvSpPr>
        <p:spPr>
          <a:xfrm xmlns:a="http://schemas.openxmlformats.org/drawingml/2006/main">
            <a:off x="390525" y="333375"/>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No single brokerage dominates Irvine sales</a:t>
            </a:r>
          </a:p>
        </p:txBody>
      </p:sp>
      <p:sp>
        <p:nvSpPr>
          <p:cNvPr id="2" name="slide-5-number">
            <a:extLst xmlns:a="http://schemas.openxmlformats.org/drawingml/2006/main">
              <a:ext uri="{FF2B5EF4-FFF2-40B4-BE49-F238E27FC236}">
                <a16:creationId xmlns:a16="http://schemas.microsoft.com/office/drawing/2014/main" id="{92189EF3-C455-4066-86C2-1EC5C5BCB554}"/>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a:solidFill>
                  <a:srgbClr val="5D6875"/>
                </a:solidFill>
                <a:latin typeface="Helvetica Neue"/>
                <a:ea typeface="Helvetica Neue"/>
                <a:cs typeface="Helvetica Neue"/>
              </a:defRPr>
            </a:pPr>
            <a:r>
              <a:rPr sz="1050">
                <a:solidFill>
                  <a:srgbClr val="5D6875"/>
                </a:solidFill>
                <a:latin typeface="Helvetica Neue"/>
                <a:ea typeface="Helvetica Neue"/>
                <a:cs typeface="Helvetica Neue"/>
              </a:rPr>
              <a:t>5</a:t>
            </a:r>
          </a:p>
        </p:txBody>
      </p:sp>
      <p:sp>
        <p:nvSpPr>
          <p:cNvPr id="3" name="office-chart-frame">
            <a:extLst xmlns:a="http://schemas.openxmlformats.org/drawingml/2006/main">
              <a:ext uri="{FF2B5EF4-FFF2-40B4-BE49-F238E27FC236}">
                <a16:creationId xmlns:a16="http://schemas.microsoft.com/office/drawing/2014/main" id="{4E398F44-3D03-4EA8-A492-8EEAEF26E37A}"/>
              </a:ext>
            </a:extLst>
          </p:cNvPr>
          <p:cNvSpPr>
            <a:spLocks xmlns:a="http://schemas.openxmlformats.org/drawingml/2006/main" noGrp="1"/>
          </p:cNvSpPr>
          <p:nvPr/>
        </p:nvSpPr>
        <p:spPr>
          <a:xfrm xmlns:a="http://schemas.openxmlformats.org/drawingml/2006/main">
            <a:off x="400050" y="1057275"/>
            <a:ext cx="5124450" cy="5448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graphicFrame>
        <p:nvGraphicFramePr>
          <p:cNvPr id="17" name="Chart"/>
          <p:cNvGraphicFramePr/>
          <p:nvPr/>
        </p:nvGraphicFramePr>
        <p:xfrm>
          <a:off xmlns:a="http://schemas.openxmlformats.org/drawingml/2006/main" x="552450" y="1285875"/>
          <a:ext xmlns:a="http://schemas.openxmlformats.org/drawingml/2006/main" cx="4838700" cy="4953000"/>
        </p:xfrm>
        <a:graphic xmlns:a="http://schemas.openxmlformats.org/drawingml/2006/main">
          <a:graphicData uri="http://schemas.openxmlformats.org/drawingml/2006/chart">
            <c:chart xmlns:r="http://schemas.openxmlformats.org/officeDocument/2006/relationships" xmlns:c="http://schemas.openxmlformats.org/drawingml/2006/chart" r:id="R2cd52a805dc54d6f"/>
          </a:graphicData>
        </a:graphic>
      </p:graphicFrame>
      <p:sp>
        <p:nvSpPr>
          <p:cNvPr id="5" name="competition-card-1">
            <a:extLst xmlns:a="http://schemas.openxmlformats.org/drawingml/2006/main">
              <a:ext uri="{FF2B5EF4-FFF2-40B4-BE49-F238E27FC236}">
                <a16:creationId xmlns:a16="http://schemas.microsoft.com/office/drawing/2014/main" id="{A7D8647F-BDF4-4121-92B6-3CD6FF0BD961}"/>
              </a:ext>
            </a:extLst>
          </p:cNvPr>
          <p:cNvSpPr>
            <a:spLocks xmlns:a="http://schemas.openxmlformats.org/drawingml/2006/main" noGrp="1"/>
          </p:cNvSpPr>
          <p:nvPr/>
        </p:nvSpPr>
        <p:spPr>
          <a:xfrm xmlns:a="http://schemas.openxmlformats.org/drawingml/2006/main">
            <a:off x="6267450" y="1057275"/>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6" name="competition-title-1">
            <a:extLst xmlns:a="http://schemas.openxmlformats.org/drawingml/2006/main">
              <a:ext uri="{FF2B5EF4-FFF2-40B4-BE49-F238E27FC236}">
                <a16:creationId xmlns:a16="http://schemas.microsoft.com/office/drawing/2014/main" id="{1814E076-3B9A-477A-9A1F-D24C472C80C3}"/>
              </a:ext>
            </a:extLst>
          </p:cNvPr>
          <p:cNvSpPr>
            <a:spLocks xmlns:a="http://schemas.openxmlformats.org/drawingml/2006/main" noGrp="1"/>
          </p:cNvSpPr>
          <p:nvPr/>
        </p:nvSpPr>
        <p:spPr>
          <a:xfrm xmlns:a="http://schemas.openxmlformats.org/drawingml/2006/main">
            <a:off x="6562725" y="1314450"/>
            <a:ext cx="4981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7365D"/>
                </a:solidFill>
                <a:latin typeface="Helvetica Neue"/>
                <a:ea typeface="Helvetica Neue"/>
                <a:cs typeface="Helvetica Neue"/>
              </a:defRPr>
            </a:pPr>
            <a:r>
              <a:rPr sz="1875" b="1">
                <a:solidFill>
                  <a:srgbClr val="17365D"/>
                </a:solidFill>
                <a:latin typeface="Helvetica Neue"/>
                <a:ea typeface="Helvetica Neue"/>
                <a:cs typeface="Helvetica Neue"/>
              </a:rPr>
              <a:t>Top listing agent</a:t>
            </a:r>
          </a:p>
        </p:txBody>
      </p:sp>
      <p:sp>
        <p:nvSpPr>
          <p:cNvPr id="7" name="competition-body-1">
            <a:extLst xmlns:a="http://schemas.openxmlformats.org/drawingml/2006/main">
              <a:ext uri="{FF2B5EF4-FFF2-40B4-BE49-F238E27FC236}">
                <a16:creationId xmlns:a16="http://schemas.microsoft.com/office/drawing/2014/main" id="{36F67688-87DA-414E-B5A5-6A1396C41B99}"/>
              </a:ext>
            </a:extLst>
          </p:cNvPr>
          <p:cNvSpPr>
            <a:spLocks xmlns:a="http://schemas.openxmlformats.org/drawingml/2006/main" noGrp="1"/>
          </p:cNvSpPr>
          <p:nvPr/>
        </p:nvSpPr>
        <p:spPr>
          <a:xfrm xmlns:a="http://schemas.openxmlformats.org/drawingml/2006/main">
            <a:off x="6562725" y="1743075"/>
            <a:ext cx="49815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Cesi Pagano</a:t>
            </a:r>
          </a:p>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$102.5M | 72 units</a:t>
            </a:r>
          </a:p>
        </p:txBody>
      </p:sp>
      <p:sp>
        <p:nvSpPr>
          <p:cNvPr id="8" name="competition-card-2">
            <a:extLst xmlns:a="http://schemas.openxmlformats.org/drawingml/2006/main">
              <a:ext uri="{FF2B5EF4-FFF2-40B4-BE49-F238E27FC236}">
                <a16:creationId xmlns:a16="http://schemas.microsoft.com/office/drawing/2014/main" id="{9E98F4D6-965F-4044-9513-04AE96279F82}"/>
              </a:ext>
            </a:extLst>
          </p:cNvPr>
          <p:cNvSpPr>
            <a:spLocks xmlns:a="http://schemas.openxmlformats.org/drawingml/2006/main" noGrp="1"/>
          </p:cNvSpPr>
          <p:nvPr/>
        </p:nvSpPr>
        <p:spPr>
          <a:xfrm xmlns:a="http://schemas.openxmlformats.org/drawingml/2006/main">
            <a:off x="6267450" y="2876550"/>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9" name="competition-title-2">
            <a:extLst xmlns:a="http://schemas.openxmlformats.org/drawingml/2006/main">
              <a:ext uri="{FF2B5EF4-FFF2-40B4-BE49-F238E27FC236}">
                <a16:creationId xmlns:a16="http://schemas.microsoft.com/office/drawing/2014/main" id="{1E83DAB9-3427-4F9B-ABE8-202662FAE406}"/>
              </a:ext>
            </a:extLst>
          </p:cNvPr>
          <p:cNvSpPr>
            <a:spLocks xmlns:a="http://schemas.openxmlformats.org/drawingml/2006/main" noGrp="1"/>
          </p:cNvSpPr>
          <p:nvPr/>
        </p:nvSpPr>
        <p:spPr>
          <a:xfrm xmlns:a="http://schemas.openxmlformats.org/drawingml/2006/main">
            <a:off x="6562725" y="3133725"/>
            <a:ext cx="4981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7365D"/>
                </a:solidFill>
                <a:latin typeface="Helvetica Neue"/>
                <a:ea typeface="Helvetica Neue"/>
                <a:cs typeface="Helvetica Neue"/>
              </a:defRPr>
            </a:pPr>
            <a:r>
              <a:rPr sz="1875" b="1">
                <a:solidFill>
                  <a:srgbClr val="17365D"/>
                </a:solidFill>
                <a:latin typeface="Helvetica Neue"/>
                <a:ea typeface="Helvetica Neue"/>
                <a:cs typeface="Helvetica Neue"/>
              </a:rPr>
              <a:t>Leading office</a:t>
            </a:r>
          </a:p>
        </p:txBody>
      </p:sp>
      <p:sp>
        <p:nvSpPr>
          <p:cNvPr id="10" name="competition-body-2">
            <a:extLst xmlns:a="http://schemas.openxmlformats.org/drawingml/2006/main">
              <a:ext uri="{FF2B5EF4-FFF2-40B4-BE49-F238E27FC236}">
                <a16:creationId xmlns:a16="http://schemas.microsoft.com/office/drawing/2014/main" id="{26266CE6-1DCB-487E-A45C-12DF67AB73B0}"/>
              </a:ext>
            </a:extLst>
          </p:cNvPr>
          <p:cNvSpPr>
            <a:spLocks xmlns:a="http://schemas.openxmlformats.org/drawingml/2006/main" noGrp="1"/>
          </p:cNvSpPr>
          <p:nvPr/>
        </p:nvSpPr>
        <p:spPr>
          <a:xfrm xmlns:a="http://schemas.openxmlformats.org/drawingml/2006/main">
            <a:off x="6562725" y="3562350"/>
            <a:ext cx="49815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Coldwell Banker Realty</a:t>
            </a:r>
          </a:p>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$149.2M | 108 units</a:t>
            </a:r>
          </a:p>
        </p:txBody>
      </p:sp>
      <p:sp>
        <p:nvSpPr>
          <p:cNvPr id="11" name="competition-card-3">
            <a:extLst xmlns:a="http://schemas.openxmlformats.org/drawingml/2006/main">
              <a:ext uri="{FF2B5EF4-FFF2-40B4-BE49-F238E27FC236}">
                <a16:creationId xmlns:a16="http://schemas.microsoft.com/office/drawing/2014/main" id="{709F1D4F-8E8A-4812-9E66-5F798DE38B53}"/>
              </a:ext>
            </a:extLst>
          </p:cNvPr>
          <p:cNvSpPr>
            <a:spLocks xmlns:a="http://schemas.openxmlformats.org/drawingml/2006/main" noGrp="1"/>
          </p:cNvSpPr>
          <p:nvPr/>
        </p:nvSpPr>
        <p:spPr>
          <a:xfrm xmlns:a="http://schemas.openxmlformats.org/drawingml/2006/main">
            <a:off x="6267450" y="4695825"/>
            <a:ext cx="5534025" cy="1638300"/>
          </a:xfrm>
          <a:prstGeom xmlns:a="http://schemas.openxmlformats.org/drawingml/2006/main" prst="roundRect">
            <a:avLst>
              <a:gd name="adj" fmla="val 4651"/>
            </a:avLst>
          </a:prstGeom>
          <a:solidFill xmlns:a="http://schemas.openxmlformats.org/drawingml/2006/main">
            <a:srgbClr val="EDEDED"/>
          </a:solidFill>
          <a:ln xmlns:a="http://schemas.openxmlformats.org/drawingml/2006/main" w="0">
            <a:noFill/>
            <a:prstDash val="solid"/>
          </a:ln>
        </p:spPr>
      </p:sp>
      <p:sp>
        <p:nvSpPr>
          <p:cNvPr id="12" name="competition-title-3">
            <a:extLst xmlns:a="http://schemas.openxmlformats.org/drawingml/2006/main">
              <a:ext uri="{FF2B5EF4-FFF2-40B4-BE49-F238E27FC236}">
                <a16:creationId xmlns:a16="http://schemas.microsoft.com/office/drawing/2014/main" id="{D50A5BDE-9018-4F8A-B602-E5C47E12CB80}"/>
              </a:ext>
            </a:extLst>
          </p:cNvPr>
          <p:cNvSpPr>
            <a:spLocks xmlns:a="http://schemas.openxmlformats.org/drawingml/2006/main" noGrp="1"/>
          </p:cNvSpPr>
          <p:nvPr/>
        </p:nvSpPr>
        <p:spPr>
          <a:xfrm xmlns:a="http://schemas.openxmlformats.org/drawingml/2006/main">
            <a:off x="6562725" y="4953000"/>
            <a:ext cx="4981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17365D"/>
                </a:solidFill>
                <a:latin typeface="Helvetica Neue"/>
                <a:ea typeface="Helvetica Neue"/>
                <a:cs typeface="Helvetica Neue"/>
              </a:defRPr>
            </a:pPr>
            <a:r>
              <a:rPr sz="1875" b="1">
                <a:solidFill>
                  <a:srgbClr val="17365D"/>
                </a:solidFill>
                <a:latin typeface="Helvetica Neue"/>
                <a:ea typeface="Helvetica Neue"/>
                <a:cs typeface="Helvetica Neue"/>
              </a:rPr>
              <a:t>Fragmented market</a:t>
            </a:r>
          </a:p>
        </p:txBody>
      </p:sp>
      <p:sp>
        <p:nvSpPr>
          <p:cNvPr id="13" name="competition-body-3">
            <a:extLst xmlns:a="http://schemas.openxmlformats.org/drawingml/2006/main">
              <a:ext uri="{FF2B5EF4-FFF2-40B4-BE49-F238E27FC236}">
                <a16:creationId xmlns:a16="http://schemas.microsoft.com/office/drawing/2014/main" id="{449A72F0-7C88-4278-93D5-89CB768A96BB}"/>
              </a:ext>
            </a:extLst>
          </p:cNvPr>
          <p:cNvSpPr>
            <a:spLocks xmlns:a="http://schemas.openxmlformats.org/drawingml/2006/main" noGrp="1"/>
          </p:cNvSpPr>
          <p:nvPr/>
        </p:nvSpPr>
        <p:spPr>
          <a:xfrm xmlns:a="http://schemas.openxmlformats.org/drawingml/2006/main">
            <a:off x="6562725" y="5381625"/>
            <a:ext cx="49815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The leading office represented only 7.2% of Irvine sales volume.</a:t>
            </a:r>
          </a:p>
        </p:txBody>
      </p:sp>
    </p:spTree>
    <p:extLst>
      <p:ext uri="{BB962C8B-B14F-4D97-AF65-F5344CB8AC3E}">
        <p14:creationId xmlns:p14="http://schemas.microsoft.com/office/powerpoint/2010/main" val="21419770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6-title">
            <a:extLst xmlns:a="http://schemas.openxmlformats.org/drawingml/2006/main">
              <a:ext uri="{FF2B5EF4-FFF2-40B4-BE49-F238E27FC236}">
                <a16:creationId xmlns:a16="http://schemas.microsoft.com/office/drawing/2014/main" id="{38974C04-1948-4235-B590-4110D59354CA}"/>
              </a:ext>
            </a:extLst>
          </p:cNvPr>
          <p:cNvSpPr>
            <a:spLocks xmlns:a="http://schemas.openxmlformats.org/drawingml/2006/main" noGrp="1"/>
          </p:cNvSpPr>
          <p:nvPr/>
        </p:nvSpPr>
        <p:spPr>
          <a:xfrm xmlns:a="http://schemas.openxmlformats.org/drawingml/2006/main">
            <a:off x="390525" y="333375"/>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Irvine is becoming more balanced, not inactive</a:t>
            </a:r>
          </a:p>
        </p:txBody>
      </p:sp>
      <p:sp>
        <p:nvSpPr>
          <p:cNvPr id="2" name="slide-6-number">
            <a:extLst xmlns:a="http://schemas.openxmlformats.org/drawingml/2006/main">
              <a:ext uri="{FF2B5EF4-FFF2-40B4-BE49-F238E27FC236}">
                <a16:creationId xmlns:a16="http://schemas.microsoft.com/office/drawing/2014/main" id="{DD889AA7-BB40-4201-A21E-E77A7C98D939}"/>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a:solidFill>
                  <a:srgbClr val="5D6875"/>
                </a:solidFill>
                <a:latin typeface="Helvetica Neue"/>
                <a:ea typeface="Helvetica Neue"/>
                <a:cs typeface="Helvetica Neue"/>
              </a:defRPr>
            </a:pPr>
            <a:r>
              <a:rPr sz="1050">
                <a:solidFill>
                  <a:srgbClr val="5D6875"/>
                </a:solidFill>
                <a:latin typeface="Helvetica Neue"/>
                <a:ea typeface="Helvetica Neue"/>
                <a:cs typeface="Helvetica Neue"/>
              </a:rPr>
              <a:t>6</a:t>
            </a:r>
          </a:p>
        </p:txBody>
      </p:sp>
      <p:sp>
        <p:nvSpPr>
          <p:cNvPr id="3" name="closing-thesis">
            <a:extLst xmlns:a="http://schemas.openxmlformats.org/drawingml/2006/main">
              <a:ext uri="{FF2B5EF4-FFF2-40B4-BE49-F238E27FC236}">
                <a16:creationId xmlns:a16="http://schemas.microsoft.com/office/drawing/2014/main" id="{0ADBB6F3-F9D5-4831-B807-4BC7586E1E96}"/>
              </a:ext>
            </a:extLst>
          </p:cNvPr>
          <p:cNvSpPr>
            <a:spLocks xmlns:a="http://schemas.openxmlformats.org/drawingml/2006/main" noGrp="1"/>
          </p:cNvSpPr>
          <p:nvPr/>
        </p:nvSpPr>
        <p:spPr>
          <a:xfrm xmlns:a="http://schemas.openxmlformats.org/drawingml/2006/main">
            <a:off x="390525" y="1666875"/>
            <a:ext cx="547687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325" b="1">
                <a:solidFill>
                  <a:srgbClr val="17365D"/>
                </a:solidFill>
                <a:latin typeface="Helvetica Neue"/>
                <a:ea typeface="Helvetica Neue"/>
                <a:cs typeface="Helvetica Neue"/>
              </a:defRPr>
            </a:pPr>
            <a:r>
              <a:rPr sz="2325" b="1">
                <a:solidFill>
                  <a:srgbClr val="17365D"/>
                </a:solidFill>
                <a:latin typeface="Helvetica Neue"/>
                <a:ea typeface="Helvetica Neue"/>
                <a:cs typeface="Helvetica Neue"/>
              </a:rPr>
              <a:t>Pricing and speed weakened, while April transaction activity improved. The result is a market with more choice and negotiating room, but continued buyer demand.</a:t>
            </a:r>
          </a:p>
        </p:txBody>
      </p:sp>
      <p:sp>
        <p:nvSpPr>
          <p:cNvPr id="4" name="closing-implication">
            <a:extLst xmlns:a="http://schemas.openxmlformats.org/drawingml/2006/main">
              <a:ext uri="{FF2B5EF4-FFF2-40B4-BE49-F238E27FC236}">
                <a16:creationId xmlns:a16="http://schemas.microsoft.com/office/drawing/2014/main" id="{8147126B-BA5A-47E8-9FF1-A969B95C0FD9}"/>
              </a:ext>
            </a:extLst>
          </p:cNvPr>
          <p:cNvSpPr>
            <a:spLocks xmlns:a="http://schemas.openxmlformats.org/drawingml/2006/main" noGrp="1"/>
          </p:cNvSpPr>
          <p:nvPr/>
        </p:nvSpPr>
        <p:spPr>
          <a:xfrm xmlns:a="http://schemas.openxmlformats.org/drawingml/2006/main">
            <a:off x="390525" y="3714750"/>
            <a:ext cx="54768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Seller implication</a:t>
            </a:r>
          </a:p>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Price close to current comparables and plan for a longer marketing period.</a:t>
            </a:r>
          </a:p>
          <a:p xmlns:a="http://schemas.openxmlformats.org/drawingml/2006/main">
            <a:r>
              <a:t/>
            </a:r>
          </a:p>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Buyer implication</a:t>
            </a:r>
          </a:p>
          <a:p xmlns:a="http://schemas.openxmlformats.org/drawingml/2006/main">
            <a:pPr algn="l">
              <a:defRPr sz="1650">
                <a:solidFill>
                  <a:srgbClr val="5D6875"/>
                </a:solidFill>
                <a:latin typeface="Helvetica Neue"/>
                <a:ea typeface="Helvetica Neue"/>
                <a:cs typeface="Helvetica Neue"/>
              </a:defRPr>
            </a:pPr>
            <a:r>
              <a:rPr sz="1650">
                <a:solidFill>
                  <a:srgbClr val="5D6875"/>
                </a:solidFill>
                <a:latin typeface="Helvetica Neue"/>
                <a:ea typeface="Helvetica Neue"/>
                <a:cs typeface="Helvetica Neue"/>
              </a:rPr>
              <a:t>Use the wider listing-to-sale gap to negotiate, while recognizing that well-priced homes still close.</a:t>
            </a:r>
          </a:p>
        </p:txBody>
      </p:sp>
      <p:sp>
        <p:nvSpPr>
          <p:cNvPr id="5" name="takeaway-dot-1">
            <a:extLst xmlns:a="http://schemas.openxmlformats.org/drawingml/2006/main">
              <a:ext uri="{FF2B5EF4-FFF2-40B4-BE49-F238E27FC236}">
                <a16:creationId xmlns:a16="http://schemas.microsoft.com/office/drawing/2014/main" id="{1AFB9AED-38F8-4D83-8838-43615E7A1753}"/>
              </a:ext>
            </a:extLst>
          </p:cNvPr>
          <p:cNvSpPr>
            <a:spLocks xmlns:a="http://schemas.openxmlformats.org/drawingml/2006/main" noGrp="1"/>
          </p:cNvSpPr>
          <p:nvPr/>
        </p:nvSpPr>
        <p:spPr>
          <a:xfrm xmlns:a="http://schemas.openxmlformats.org/drawingml/2006/main">
            <a:off x="7048500" y="20478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takeaway-1">
            <a:extLst xmlns:a="http://schemas.openxmlformats.org/drawingml/2006/main">
              <a:ext uri="{FF2B5EF4-FFF2-40B4-BE49-F238E27FC236}">
                <a16:creationId xmlns:a16="http://schemas.microsoft.com/office/drawing/2014/main" id="{7CB8024E-CC4C-4EB1-BA4D-B38136F20026}"/>
              </a:ext>
            </a:extLst>
          </p:cNvPr>
          <p:cNvSpPr>
            <a:spLocks xmlns:a="http://schemas.openxmlformats.org/drawingml/2006/main" noGrp="1"/>
          </p:cNvSpPr>
          <p:nvPr/>
        </p:nvSpPr>
        <p:spPr>
          <a:xfrm xmlns:a="http://schemas.openxmlformats.org/drawingml/2006/main">
            <a:off x="7429500" y="20002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Median close price: $1.36M</a:t>
            </a:r>
          </a:p>
        </p:txBody>
      </p:sp>
      <p:sp>
        <p:nvSpPr>
          <p:cNvPr id="7" name="takeaway-dot-2">
            <a:extLst xmlns:a="http://schemas.openxmlformats.org/drawingml/2006/main">
              <a:ext uri="{FF2B5EF4-FFF2-40B4-BE49-F238E27FC236}">
                <a16:creationId xmlns:a16="http://schemas.microsoft.com/office/drawing/2014/main" id="{AC0C2E2C-E8BF-4D30-AD36-AAB539C187CA}"/>
              </a:ext>
            </a:extLst>
          </p:cNvPr>
          <p:cNvSpPr>
            <a:spLocks xmlns:a="http://schemas.openxmlformats.org/drawingml/2006/main" noGrp="1"/>
          </p:cNvSpPr>
          <p:nvPr/>
        </p:nvSpPr>
        <p:spPr>
          <a:xfrm xmlns:a="http://schemas.openxmlformats.org/drawingml/2006/main">
            <a:off x="7048500" y="27717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8" name="takeaway-2">
            <a:extLst xmlns:a="http://schemas.openxmlformats.org/drawingml/2006/main">
              <a:ext uri="{FF2B5EF4-FFF2-40B4-BE49-F238E27FC236}">
                <a16:creationId xmlns:a16="http://schemas.microsoft.com/office/drawing/2014/main" id="{768E6B03-4B9B-4590-AF23-F65CC756ACCC}"/>
              </a:ext>
            </a:extLst>
          </p:cNvPr>
          <p:cNvSpPr>
            <a:spLocks xmlns:a="http://schemas.openxmlformats.org/drawingml/2006/main" noGrp="1"/>
          </p:cNvSpPr>
          <p:nvPr/>
        </p:nvSpPr>
        <p:spPr>
          <a:xfrm xmlns:a="http://schemas.openxmlformats.org/drawingml/2006/main">
            <a:off x="7429500" y="27241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Average market time: 24.8 days</a:t>
            </a:r>
          </a:p>
        </p:txBody>
      </p:sp>
      <p:sp>
        <p:nvSpPr>
          <p:cNvPr id="9" name="takeaway-dot-3">
            <a:extLst xmlns:a="http://schemas.openxmlformats.org/drawingml/2006/main">
              <a:ext uri="{FF2B5EF4-FFF2-40B4-BE49-F238E27FC236}">
                <a16:creationId xmlns:a16="http://schemas.microsoft.com/office/drawing/2014/main" id="{E854F30F-C35C-443A-A700-844E18A4B620}"/>
              </a:ext>
            </a:extLst>
          </p:cNvPr>
          <p:cNvSpPr>
            <a:spLocks xmlns:a="http://schemas.openxmlformats.org/drawingml/2006/main" noGrp="1"/>
          </p:cNvSpPr>
          <p:nvPr/>
        </p:nvSpPr>
        <p:spPr>
          <a:xfrm xmlns:a="http://schemas.openxmlformats.org/drawingml/2006/main">
            <a:off x="7048500" y="34956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takeaway-3">
            <a:extLst xmlns:a="http://schemas.openxmlformats.org/drawingml/2006/main">
              <a:ext uri="{FF2B5EF4-FFF2-40B4-BE49-F238E27FC236}">
                <a16:creationId xmlns:a16="http://schemas.microsoft.com/office/drawing/2014/main" id="{4CD311A3-9B36-4AD9-A89F-6F506D034991}"/>
              </a:ext>
            </a:extLst>
          </p:cNvPr>
          <p:cNvSpPr>
            <a:spLocks xmlns:a="http://schemas.openxmlformats.org/drawingml/2006/main" noGrp="1"/>
          </p:cNvSpPr>
          <p:nvPr/>
        </p:nvSpPr>
        <p:spPr>
          <a:xfrm xmlns:a="http://schemas.openxmlformats.org/drawingml/2006/main">
            <a:off x="7429500" y="34480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Average close-to-original-list ratio: 98.2%</a:t>
            </a:r>
          </a:p>
        </p:txBody>
      </p:sp>
      <p:sp>
        <p:nvSpPr>
          <p:cNvPr id="11" name="takeaway-dot-4">
            <a:extLst xmlns:a="http://schemas.openxmlformats.org/drawingml/2006/main">
              <a:ext uri="{FF2B5EF4-FFF2-40B4-BE49-F238E27FC236}">
                <a16:creationId xmlns:a16="http://schemas.microsoft.com/office/drawing/2014/main" id="{8AD80C57-59B8-42BE-BA10-0DBE6DD01654}"/>
              </a:ext>
            </a:extLst>
          </p:cNvPr>
          <p:cNvSpPr>
            <a:spLocks xmlns:a="http://schemas.openxmlformats.org/drawingml/2006/main" noGrp="1"/>
          </p:cNvSpPr>
          <p:nvPr/>
        </p:nvSpPr>
        <p:spPr>
          <a:xfrm xmlns:a="http://schemas.openxmlformats.org/drawingml/2006/main">
            <a:off x="7048500" y="42195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takeaway-4">
            <a:extLst xmlns:a="http://schemas.openxmlformats.org/drawingml/2006/main">
              <a:ext uri="{FF2B5EF4-FFF2-40B4-BE49-F238E27FC236}">
                <a16:creationId xmlns:a16="http://schemas.microsoft.com/office/drawing/2014/main" id="{3FE6E475-BFAB-43F7-B626-A137F053B7E0}"/>
              </a:ext>
            </a:extLst>
          </p:cNvPr>
          <p:cNvSpPr>
            <a:spLocks xmlns:a="http://schemas.openxmlformats.org/drawingml/2006/main" noGrp="1"/>
          </p:cNvSpPr>
          <p:nvPr/>
        </p:nvSpPr>
        <p:spPr>
          <a:xfrm xmlns:a="http://schemas.openxmlformats.org/drawingml/2006/main">
            <a:off x="7429500" y="41719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April activity increased year over year</a:t>
            </a:r>
          </a:p>
        </p:txBody>
      </p:sp>
      <p:sp>
        <p:nvSpPr>
          <p:cNvPr id="13" name="takeaway-dot-5">
            <a:extLst xmlns:a="http://schemas.openxmlformats.org/drawingml/2006/main">
              <a:ext uri="{FF2B5EF4-FFF2-40B4-BE49-F238E27FC236}">
                <a16:creationId xmlns:a16="http://schemas.microsoft.com/office/drawing/2014/main" id="{AA7ECB2F-4566-48F3-8328-CEA0E28BD01B}"/>
              </a:ext>
            </a:extLst>
          </p:cNvPr>
          <p:cNvSpPr>
            <a:spLocks xmlns:a="http://schemas.openxmlformats.org/drawingml/2006/main" noGrp="1"/>
          </p:cNvSpPr>
          <p:nvPr/>
        </p:nvSpPr>
        <p:spPr>
          <a:xfrm xmlns:a="http://schemas.openxmlformats.org/drawingml/2006/main">
            <a:off x="7048500" y="49434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takeaway-5">
            <a:extLst xmlns:a="http://schemas.openxmlformats.org/drawingml/2006/main">
              <a:ext uri="{FF2B5EF4-FFF2-40B4-BE49-F238E27FC236}">
                <a16:creationId xmlns:a16="http://schemas.microsoft.com/office/drawing/2014/main" id="{7CF2D1D7-5EDE-4F8F-AA4D-1813428EEAB4}"/>
              </a:ext>
            </a:extLst>
          </p:cNvPr>
          <p:cNvSpPr>
            <a:spLocks xmlns:a="http://schemas.openxmlformats.org/drawingml/2006/main" noGrp="1"/>
          </p:cNvSpPr>
          <p:nvPr/>
        </p:nvSpPr>
        <p:spPr>
          <a:xfrm xmlns:a="http://schemas.openxmlformats.org/drawingml/2006/main">
            <a:off x="7429500" y="48958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Broker competition remains fragmented</a:t>
            </a:r>
          </a:p>
        </p:txBody>
      </p:sp>
    </p:spTree>
    <p:extLst>
      <p:ext uri="{BB962C8B-B14F-4D97-AF65-F5344CB8AC3E}">
        <p14:creationId xmlns:p14="http://schemas.microsoft.com/office/powerpoint/2010/main" val="977607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2026-08-31T20:52:40.3420000Z</dcterms:created>
  <dcterms:modified xsi:type="dcterms:W3CDTF">2026-08-31T20:52:40.3420000Z</dcterms:modified>
</coreProperties>
</file>